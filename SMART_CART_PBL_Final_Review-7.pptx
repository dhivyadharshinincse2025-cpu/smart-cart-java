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19" r:id="rId2"/>
    <p:sldId id="506" r:id="rId3"/>
    <p:sldId id="514" r:id="rId4"/>
    <p:sldId id="507" r:id="rId5"/>
    <p:sldId id="508" r:id="rId6"/>
    <p:sldId id="509" r:id="rId7"/>
    <p:sldId id="515" r:id="rId8"/>
    <p:sldId id="51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643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4532D"/>
                </a:solidFill>
                <a:latin typeface="Times New Roman"/>
              </a:rPr>
              <a:t>Average response time (ms) by iteration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Avg. response time (ms)</c:v>
                </c:pt>
              </c:strCache>
            </c:strRef>
          </c:tx>
          <c:spPr>
            <a:solidFill>
              <a:srgbClr val="14532D"/>
            </a:solidFill>
          </c:spPr>
          <c:dPt>
            <c:idx val="2"/>
            <c:spPr>
              <a:solidFill>
                <a:srgbClr val="E8710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Refinement</c:v>
                </c:pt>
                <c:pt idx="2">
                  <c:v>Final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180</c:v>
                </c:pt>
                <c:pt idx="1">
                  <c:v>140</c:v>
                </c:pt>
                <c:pt idx="2">
                  <c:v>95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 b="1">
                  <a:latin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Times New Roman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20.0"/>
          <c:min val="0.0"/>
        </c:scaling>
        <c:delete val="0"/>
        <c:axPos val="l"/>
        <c:majorGridlines>
          <c:spPr>
            <a:ln>
              <a:solidFill>
                <a:srgbClr val="D9E2F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latin typeface="Times New Roman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5EB6FF-ADAA-45C6-A825-247BBAE19742}" type="datetimeFigureOut">
              <a:rPr lang="en-IN" smtClean="0"/>
              <a:t>24-09-2026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A77BC4-17D5-4B3B-8254-CC862B6A5E2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0998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77BC4-17D5-4B3B-8254-CC862B6A5E2F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296340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E602E-F900-9031-6AC8-73F10556E0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4C2B61-6876-88B3-A5F9-7B829DA423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60275-ABCD-B29C-8C0A-6E4F2FD3E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F3498-F4F9-DB41-CD36-6A221BCB6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CE914-FBBD-92B9-9CA2-3F40FD1D7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6633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98DF1-C5BE-6796-70DE-A3F503A7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4492F-7D80-29C9-2308-5A8569C2D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3FDF3-E10C-A3F0-B98D-453E8083D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66F82-2042-C918-C81F-2F9B4F18B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9D627-19C3-DC54-7CD9-FA5500839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5786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671E6-8C35-83BC-2B33-0655540CB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5F6C37-AB34-25BE-12C1-AA65FCA8F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F8FFD-45F0-DD57-FE3C-9E076ACE2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A5514-393C-EFCE-01F9-B2CE001A8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ACB48-3533-1C36-3514-71B63718C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2056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CD219-FA69-9CBF-FBDE-B710CFB85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158CF-DE11-9B79-12E3-5342CE5B61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E2B980-E864-34A6-6906-C86638E18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A7FA1C-7B6A-BA75-B37B-195B0F573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97CB70-8B73-BAB9-8426-FDEFD7163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51A4B-870D-163F-53D2-0AADE3398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2398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BA5A0-BB01-6BB8-C159-471001A90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6893-4A4F-426A-A5F6-626610F37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95C00F-0E53-D71D-782E-D740B83A1A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83FF82-8820-CCBF-411E-57C2C0FB43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AF392E-9590-423C-3F62-1B99F8ED7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51395E-14B8-3C49-B85F-5EE4C7A43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5F0EAD-79ED-31EE-A7B8-00CA48D0D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9BBB80-F93E-5FA1-B554-B865EFB6E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3444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D0E9A-C769-7BAB-77EC-E3DD0C871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9FE8A4-529A-DDB2-CFFE-2621FA723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7F48B-5C43-9F3A-55CC-A47A74EE7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BDCAC-FA44-2D60-C7FB-00EA9C2A9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9546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7AFBC8-4429-3CF2-D7FD-013C843A5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6F2463-4C84-38B5-C473-94DEDD337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4EB43-8F87-9269-D6F6-0FBA03253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3765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21E04-8BD9-6B68-FC0F-A711F6A8C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F50A1-7EB1-0089-AFE0-A0B4139BA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8D8750-631F-0F8E-8365-7236BB4F6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EE415-B1A5-EF49-8E72-3A526EF2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330E7-EC53-C9ED-DBB8-5B347D7F2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DCD15B-3E89-C907-AE04-8C7A74F28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7313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BBE34-C477-BD1D-5C4A-423A42EC4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F98EAA-EB77-18BB-153B-3C2C17FD4C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F9DA39-FACA-F80B-5621-B93583F1D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DF808F-D30B-9980-A54D-AF59385A3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7B967-36B2-D49E-ACAA-62ED90179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F779D1-E21D-CDFE-D44E-F0AE9A47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5041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8ADA2-FAF6-FC43-216D-329339BBA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F6FCD0-243C-6296-B116-1BE620DC32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54B15-B895-3960-42A1-243C13660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702E8-C53E-4EA8-5371-E99E20C0B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1A6DE-5D9F-FF19-9DCE-40347D324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0322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0E82D7-F785-4947-1FAC-D31467C679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B5C0C9-4A27-BB0A-99C0-CD5C624AA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07FE6-F9D6-5313-31D3-3B456B3EC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C271F-B837-12E3-63A5-2BF92AF5D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47357-8C1B-DAF7-EA68-D7B300470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064260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8000"/>
            <a:lum/>
          </a:blip>
          <a:srcRect/>
          <a:stretch>
            <a:fillRect l="4000" t="15000" r="4000" b="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500EC-1157-3044-AF8C-8BB8052A0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158B8-89EE-6370-40DB-B55329201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0FA01-4EFB-2556-186F-6EDC8B37E2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3A508-2D6B-F27D-0E75-55977FA039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9B5CE-202A-2084-F4FC-495F1B77B5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9418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9.png"/><Relationship Id="rId7" Type="http://schemas.openxmlformats.org/officeDocument/2006/relationships/image" Target="../media/image6.png"/><Relationship Id="rId8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chart" Target="../charts/chart1.xml"/><Relationship Id="rId6" Type="http://schemas.openxmlformats.org/officeDocument/2006/relationships/image" Target="../media/image13.png"/><Relationship Id="rId7" Type="http://schemas.openxmlformats.org/officeDocument/2006/relationships/image" Target="../media/image9.png"/><Relationship Id="rId8" Type="http://schemas.openxmlformats.org/officeDocument/2006/relationships/image" Target="../media/image6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16.png"/><Relationship Id="rId10" Type="http://schemas.openxmlformats.org/officeDocument/2006/relationships/image" Target="../media/image23.png"/><Relationship Id="rId11" Type="http://schemas.openxmlformats.org/officeDocument/2006/relationships/image" Target="../media/image17.png"/><Relationship Id="rId12" Type="http://schemas.openxmlformats.org/officeDocument/2006/relationships/image" Target="../media/image14.png"/><Relationship Id="rId13" Type="http://schemas.openxmlformats.org/officeDocument/2006/relationships/image" Target="../media/image24.png"/><Relationship Id="rId14" Type="http://schemas.openxmlformats.org/officeDocument/2006/relationships/image" Target="../media/image25.png"/><Relationship Id="rId15" Type="http://schemas.openxmlformats.org/officeDocument/2006/relationships/image" Target="../media/image26.png"/><Relationship Id="rId16" Type="http://schemas.openxmlformats.org/officeDocument/2006/relationships/image" Target="../media/image27.png"/><Relationship Id="rId17" Type="http://schemas.openxmlformats.org/officeDocument/2006/relationships/image" Target="../media/image28.png"/><Relationship Id="rId18" Type="http://schemas.openxmlformats.org/officeDocument/2006/relationships/image" Target="../media/image9.png"/><Relationship Id="rId19" Type="http://schemas.openxmlformats.org/officeDocument/2006/relationships/image" Target="../media/image6.png"/><Relationship Id="rId20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1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9.png"/><Relationship Id="rId7" Type="http://schemas.openxmlformats.org/officeDocument/2006/relationships/image" Target="../media/image6.png"/><Relationship Id="rId8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image" Target="../media/image9.png"/><Relationship Id="rId12" Type="http://schemas.openxmlformats.org/officeDocument/2006/relationships/image" Target="../media/image6.png"/><Relationship Id="rId1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5.png"/><Relationship Id="rId4" Type="http://schemas.openxmlformats.org/officeDocument/2006/relationships/image" Target="../media/image29.png"/><Relationship Id="rId5" Type="http://schemas.openxmlformats.org/officeDocument/2006/relationships/image" Target="../media/image25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42.png"/><Relationship Id="rId12" Type="http://schemas.openxmlformats.org/officeDocument/2006/relationships/image" Target="../media/image9.png"/><Relationship Id="rId13" Type="http://schemas.openxmlformats.org/officeDocument/2006/relationships/image" Target="../media/image6.png"/><Relationship Id="rId14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hyperlink" Target="https://github.com/dhivyadharshinincse2025-cpu/smart-cart-jav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43.png"/><Relationship Id="rId9" Type="http://schemas.openxmlformats.org/officeDocument/2006/relationships/image" Target="../media/image7.png"/><Relationship Id="rId10" Type="http://schemas.openxmlformats.org/officeDocument/2006/relationships/image" Target="../media/image44.png"/><Relationship Id="rId11" Type="http://schemas.openxmlformats.org/officeDocument/2006/relationships/image" Target="../media/image8.png"/><Relationship Id="rId12" Type="http://schemas.openxmlformats.org/officeDocument/2006/relationships/image" Target="../media/image45.png"/><Relationship Id="rId13" Type="http://schemas.openxmlformats.org/officeDocument/2006/relationships/image" Target="../media/image10.png"/><Relationship Id="rId14" Type="http://schemas.openxmlformats.org/officeDocument/2006/relationships/image" Target="../media/image46.png"/><Relationship Id="rId15" Type="http://schemas.openxmlformats.org/officeDocument/2006/relationships/image" Target="../media/image9.png"/><Relationship Id="rId16" Type="http://schemas.openxmlformats.org/officeDocument/2006/relationships/image" Target="../media/image47.png"/><Relationship Id="rId17" Type="http://schemas.openxmlformats.org/officeDocument/2006/relationships/image" Target="../media/image11.png"/><Relationship Id="rId18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514759"/>
            <a:ext cx="10515600" cy="1137422"/>
          </a:xfrm>
          <a:noFill/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1453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Programming PBL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solidFill>
                  <a:srgbClr val="1453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Final Review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695C9B8-2B8D-722A-D1E4-DB26ABC227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7253" y="4205820"/>
            <a:ext cx="4822502" cy="1747839"/>
          </a:xfrm>
          <a:noFill/>
        </p:spPr>
        <p:txBody>
          <a:bodyPr rtlCol="0">
            <a:normAutofit/>
          </a:bodyPr>
          <a:lstStyle/>
          <a:p>
            <a:pPr algn="just" eaLnBrk="1" fontAlgn="auto" hangingPunct="1">
              <a:spcBef>
                <a:spcPts val="575"/>
              </a:spcBef>
              <a:spcAft>
                <a:spcPts val="0"/>
              </a:spcAft>
              <a:buClr>
                <a:srgbClr val="D34817"/>
              </a:buClr>
              <a:buSzPct val="85000"/>
              <a:defRPr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by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Dhivyadharshini N (2104251040203)</a:t>
            </a: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Nesappriya R (2104251040632)</a:t>
            </a: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Computer Science and Engineering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4B01F8-75A2-E674-8FB3-91C160A648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07" b="13744"/>
          <a:stretch>
            <a:fillRect/>
          </a:stretch>
        </p:blipFill>
        <p:spPr>
          <a:xfrm>
            <a:off x="2746627" y="136526"/>
            <a:ext cx="6698746" cy="113742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A8A47D1-B6FE-DF05-8C4F-BF8ADA8CECA2}"/>
              </a:ext>
            </a:extLst>
          </p:cNvPr>
          <p:cNvSpPr txBox="1"/>
          <p:nvPr/>
        </p:nvSpPr>
        <p:spPr>
          <a:xfrm>
            <a:off x="1069848" y="2891449"/>
            <a:ext cx="10058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600" b="1" dirty="0">
                <a:solidFill>
                  <a:srgbClr val="E871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CART – A JAVA-BASED SMART SHOPPING SYSTEM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E79CF91-FEBC-8843-2396-3F73C4A93418}"/>
              </a:ext>
            </a:extLst>
          </p:cNvPr>
          <p:cNvSpPr txBox="1">
            <a:spLocks/>
          </p:cNvSpPr>
          <p:nvPr/>
        </p:nvSpPr>
        <p:spPr>
          <a:xfrm>
            <a:off x="7164038" y="4205819"/>
            <a:ext cx="4562669" cy="174783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</a:t>
            </a:r>
          </a:p>
          <a:p>
            <a:pPr algn="l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R. Kavitha M.E., Ph.D.</a:t>
            </a:r>
          </a:p>
          <a:p>
            <a:pPr algn="l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</a:t>
            </a:r>
          </a:p>
          <a:p>
            <a:pPr algn="l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Computer Science and Engineering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4DD7FD45-5E4F-0506-E6E9-699A49C3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1</a:t>
            </a:fld>
            <a:endParaRPr lang="en-IN" dirty="0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CD744800-7B7D-1CC0-99F0-27E4BA9DE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06/10/2026</a:t>
            </a:r>
            <a:endParaRPr lang="en-IN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1FE1F1F0-72E3-4268-62A9-CA71368AD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pic>
        <p:nvPicPr>
          <p:cNvPr id="19" name="Picture 18" descr="apple_emoj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3364992"/>
            <a:ext cx="676656" cy="676656"/>
          </a:xfrm>
          <a:prstGeom prst="rect">
            <a:avLst/>
          </a:prstGeom>
        </p:spPr>
      </p:pic>
      <p:pic>
        <p:nvPicPr>
          <p:cNvPr id="20" name="Picture 19" descr="bread_emoj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3364992"/>
            <a:ext cx="676656" cy="676656"/>
          </a:xfrm>
          <a:prstGeom prst="rect">
            <a:avLst/>
          </a:prstGeom>
        </p:spPr>
      </p:pic>
      <p:pic>
        <p:nvPicPr>
          <p:cNvPr id="21" name="Picture 20" descr="carrot_emoj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364992"/>
            <a:ext cx="676656" cy="676656"/>
          </a:xfrm>
          <a:prstGeom prst="rect">
            <a:avLst/>
          </a:prstGeom>
        </p:spPr>
      </p:pic>
      <p:pic>
        <p:nvPicPr>
          <p:cNvPr id="22" name="Picture 21" descr="cart_emoj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3364992"/>
            <a:ext cx="676656" cy="676656"/>
          </a:xfrm>
          <a:prstGeom prst="rect">
            <a:avLst/>
          </a:prstGeom>
        </p:spPr>
      </p:pic>
      <p:pic>
        <p:nvPicPr>
          <p:cNvPr id="23" name="Picture 22" descr="cheese_emoj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0" y="3364992"/>
            <a:ext cx="676656" cy="676656"/>
          </a:xfrm>
          <a:prstGeom prst="rect">
            <a:avLst/>
          </a:prstGeom>
        </p:spPr>
      </p:pic>
      <p:pic>
        <p:nvPicPr>
          <p:cNvPr id="24" name="Picture 23" descr="fish_emoj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9520" y="3364992"/>
            <a:ext cx="676656" cy="676656"/>
          </a:xfrm>
          <a:prstGeom prst="rect">
            <a:avLst/>
          </a:prstGeom>
        </p:spPr>
      </p:pic>
      <p:pic>
        <p:nvPicPr>
          <p:cNvPr id="25" name="Picture 24" descr="register_emoji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3920" y="3364992"/>
            <a:ext cx="676656" cy="67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171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9CACB-BD96-E2FF-8A86-211497479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b="1" dirty="0">
                <a:solidFill>
                  <a:srgbClr val="1453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4B721-FE62-DE79-132F-30A2E97ED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0" y="995680"/>
            <a:ext cx="11135360" cy="2433320"/>
          </a:xfrm>
          <a:noFill/>
          <a:ln w="22225">
            <a:solidFill>
              <a:srgbClr val="14532D"/>
            </a:solidFill>
          </a:ln>
        </p:spPr>
        <p:txBody>
          <a:bodyPr>
            <a:normAutofit/>
          </a:bodyPr>
          <a:lstStyle/>
          <a:p>
            <a:pPr marL="0" indent="0" algn="ctr">
              <a:spcAft>
                <a:spcPts val="900"/>
              </a:spcAft>
              <a:buNone/>
            </a:pPr>
            <a:r>
              <a:rPr lang="en-US" sz="2000" b="1" dirty="0">
                <a:solidFill>
                  <a:srgbClr val="1453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Bef>
                <a:spcPts val="0"/>
              </a:spcBef>
              <a:spcAft>
                <a:spcPts val="500"/>
              </a:spcAft>
              <a:buClr>
                <a:srgbClr val="E8710A"/>
              </a:buClr>
              <a:buFont typeface="Arial"/>
              <a:buChar char="•"/>
            </a:pPr>
            <a:r>
              <a:rPr lang="en-US" sz="1500" b="1" i="0" dirty="0">
                <a:solidFill>
                  <a:srgbClr val="14532D"/>
                </a:solidFill>
                <a:latin typeface="Times New Roman"/>
                <a:cs typeface="Times New Roman"/>
              </a:rPr>
              <a:t>What is the problem?  </a:t>
            </a:r>
            <a:r>
              <a:rPr lang="en-US" sz="1500" b="0" i="0" dirty="0">
                <a:latin typeface="Times New Roman"/>
                <a:cs typeface="Times New Roman"/>
              </a:rPr>
              <a:t>In-store shopping is still manual: shoppers hunt through aisles, don't know the exact shelf, and see the total only at checkout.</a:t>
            </a:r>
          </a:p>
          <a:p>
            <a:pPr marL="228600" indent="-228600">
              <a:spcBef>
                <a:spcPts val="0"/>
              </a:spcBef>
              <a:spcAft>
                <a:spcPts val="500"/>
              </a:spcAft>
              <a:buClr>
                <a:srgbClr val="E8710A"/>
              </a:buClr>
              <a:buFont typeface="Arial"/>
              <a:buChar char="•"/>
            </a:pPr>
            <a:r>
              <a:rPr lang="en-US" sz="1500" b="1" i="0" dirty="0">
                <a:solidFill>
                  <a:srgbClr val="14532D"/>
                </a:solidFill>
                <a:latin typeface="Times New Roman"/>
                <a:cs typeface="Times New Roman"/>
              </a:rPr>
              <a:t>Who is affected?  </a:t>
            </a:r>
            <a:r>
              <a:rPr lang="en-US" sz="1500" b="0" i="0" dirty="0">
                <a:latin typeface="Times New Roman"/>
                <a:cs typeface="Times New Roman"/>
              </a:rPr>
              <a:t>Everyday shoppers, especially elderly and differently-abled users, and store staff who cannot see what a shopper plans to buy.</a:t>
            </a:r>
          </a:p>
          <a:p>
            <a:pPr marL="228600" indent="-228600">
              <a:spcBef>
                <a:spcPts val="0"/>
              </a:spcBef>
              <a:spcAft>
                <a:spcPts val="500"/>
              </a:spcAft>
              <a:buClr>
                <a:srgbClr val="E8710A"/>
              </a:buClr>
              <a:buFont typeface="Arial"/>
              <a:buChar char="•"/>
            </a:pPr>
            <a:r>
              <a:rPr lang="en-US" sz="1500" b="1" i="0" dirty="0">
                <a:solidFill>
                  <a:srgbClr val="14532D"/>
                </a:solidFill>
                <a:latin typeface="Times New Roman"/>
                <a:cs typeface="Times New Roman"/>
              </a:rPr>
              <a:t>Why does it matter?  </a:t>
            </a:r>
            <a:r>
              <a:rPr lang="en-US" sz="1500" b="0" i="0" dirty="0">
                <a:latin typeface="Times New Roman"/>
                <a:cs typeface="Times New Roman"/>
              </a:rPr>
              <a:t>It wastes time, congests billing counters and causes manual tallying errors.</a:t>
            </a:r>
          </a:p>
          <a:p>
            <a:pPr marL="228600" indent="-228600">
              <a:spcBef>
                <a:spcPts val="0"/>
              </a:spcBef>
              <a:spcAft>
                <a:spcPts val="0"/>
              </a:spcAft>
              <a:buClr>
                <a:srgbClr val="E8710A"/>
              </a:buClr>
              <a:buFont typeface="Arial"/>
              <a:buChar char="•"/>
            </a:pPr>
            <a:r>
              <a:rPr lang="en-US" sz="1500" b="1" i="0" dirty="0">
                <a:solidFill>
                  <a:srgbClr val="14532D"/>
                </a:solidFill>
                <a:latin typeface="Times New Roman"/>
                <a:cs typeface="Times New Roman"/>
              </a:rPr>
              <a:t>Driving question:  </a:t>
            </a:r>
            <a:r>
              <a:rPr lang="en-US" sz="1500" b="0" i="1" dirty="0">
                <a:latin typeface="Times New Roman"/>
                <a:cs typeface="Times New Roman"/>
              </a:rPr>
              <a:t>Can a Java application help shoppers search, locate, manage a cart and get an accurate bill?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23CDA66-B5BD-2386-BB8F-491237797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2</a:t>
            </a:fld>
            <a:endParaRPr lang="en-IN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A11D91B-4958-A12F-C19C-77C5B83B1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06/10/2026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C1B7ED-4992-7EBC-5212-A1AE4793B1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4" name="Footer Placeholder 17">
            <a:extLst>
              <a:ext uri="{FF2B5EF4-FFF2-40B4-BE49-F238E27FC236}">
                <a16:creationId xmlns:a16="http://schemas.microsoft.com/office/drawing/2014/main" id="{30690128-931D-A777-D1FD-90C08716F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4CFBC3A-C6D9-950A-AAA8-D4DC8D77DE35}"/>
              </a:ext>
            </a:extLst>
          </p:cNvPr>
          <p:cNvSpPr txBox="1">
            <a:spLocks/>
          </p:cNvSpPr>
          <p:nvPr/>
        </p:nvSpPr>
        <p:spPr>
          <a:xfrm>
            <a:off x="528320" y="3611882"/>
            <a:ext cx="5431322" cy="2744468"/>
          </a:xfrm>
          <a:prstGeom prst="rect">
            <a:avLst/>
          </a:prstGeom>
          <a:noFill/>
          <a:ln w="22225">
            <a:solidFill>
              <a:srgbClr val="14532D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900"/>
              </a:spcAft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rgbClr val="1453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228600" indent="-228600">
              <a:spcBef>
                <a:spcPts val="0"/>
              </a:spcBef>
              <a:spcAft>
                <a:spcPts val="500"/>
              </a:spcAft>
              <a:buClr>
                <a:srgbClr val="E8710A"/>
              </a:buClr>
              <a:buFont typeface="Arial"/>
              <a:buChar char="•"/>
            </a:pPr>
            <a:r>
              <a:rPr lang="en-US" sz="1500" b="0" i="0" dirty="0">
                <a:latin typeface="Times New Roman"/>
                <a:cs typeface="Times New Roman"/>
              </a:rPr>
              <a:t>Analyse manual shopping and define the requirements</a:t>
            </a:r>
          </a:p>
          <a:p>
            <a:pPr marL="228600" indent="-228600">
              <a:spcBef>
                <a:spcPts val="0"/>
              </a:spcBef>
              <a:spcAft>
                <a:spcPts val="500"/>
              </a:spcAft>
              <a:buClr>
                <a:srgbClr val="E8710A"/>
              </a:buClr>
              <a:buFont typeface="Arial"/>
              <a:buChar char="•"/>
            </a:pPr>
            <a:r>
              <a:rPr lang="en-US" sz="1500" b="0" i="0" dirty="0">
                <a:latin typeface="Times New Roman"/>
                <a:cs typeface="Times New Roman"/>
              </a:rPr>
              <a:t>Design Product, Cart and Customer classes using OOP concepts</a:t>
            </a:r>
          </a:p>
          <a:p>
            <a:pPr marL="228600" indent="-228600">
              <a:spcBef>
                <a:spcPts val="0"/>
              </a:spcBef>
              <a:spcAft>
                <a:spcPts val="500"/>
              </a:spcAft>
              <a:buClr>
                <a:srgbClr val="E8710A"/>
              </a:buClr>
              <a:buFont typeface="Arial"/>
              <a:buChar char="•"/>
            </a:pPr>
            <a:r>
              <a:rPr lang="en-US" sz="1500" b="0" i="0" dirty="0">
                <a:latin typeface="Times New Roman"/>
                <a:cs typeface="Times New Roman"/>
              </a:rPr>
              <a:t>Implement JDBC + MySQL persistence with CRUD operations</a:t>
            </a:r>
          </a:p>
          <a:p>
            <a:pPr marL="228600" indent="-228600">
              <a:spcBef>
                <a:spcPts val="0"/>
              </a:spcBef>
              <a:spcAft>
                <a:spcPts val="0"/>
              </a:spcAft>
              <a:buClr>
                <a:srgbClr val="E8710A"/>
              </a:buClr>
              <a:buFont typeface="Arial"/>
              <a:buChar char="•"/>
            </a:pPr>
            <a:r>
              <a:rPr lang="en-US" sz="1500" b="0" i="0" dirty="0">
                <a:latin typeface="Times New Roman"/>
                <a:cs typeface="Times New Roman"/>
              </a:rPr>
              <a:t>Test and debug search, cart and billing for reliability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64EE8C4-9DF8-3FF3-8179-F4A537F21798}"/>
              </a:ext>
            </a:extLst>
          </p:cNvPr>
          <p:cNvSpPr txBox="1">
            <a:spLocks/>
          </p:cNvSpPr>
          <p:nvPr/>
        </p:nvSpPr>
        <p:spPr>
          <a:xfrm>
            <a:off x="6232358" y="3611882"/>
            <a:ext cx="5431322" cy="2744468"/>
          </a:xfrm>
          <a:prstGeom prst="rect">
            <a:avLst/>
          </a:prstGeom>
          <a:noFill/>
          <a:ln w="22225">
            <a:solidFill>
              <a:srgbClr val="14532D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900"/>
              </a:spcAft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rgbClr val="1453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latin typeface="Times New Roman"/>
                <a:cs typeface="Times New Roman"/>
              </a:rPr>
              <a:t>A Java application that lets a shopper search products, see each shelf location, manage a cart with live totals and get an accurate bill, all persisted in MySQL.</a:t>
            </a:r>
          </a:p>
        </p:txBody>
      </p:sp>
      <p:pic>
        <p:nvPicPr>
          <p:cNvPr id="12" name="Picture 11" descr="bulb_emoj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59" y="1032256"/>
            <a:ext cx="420624" cy="420624"/>
          </a:xfrm>
          <a:prstGeom prst="rect">
            <a:avLst/>
          </a:prstGeom>
        </p:spPr>
      </p:pic>
      <p:pic>
        <p:nvPicPr>
          <p:cNvPr id="13" name="Picture 12" descr="target_emoj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759" y="3648458"/>
            <a:ext cx="420624" cy="420624"/>
          </a:xfrm>
          <a:prstGeom prst="rect">
            <a:avLst/>
          </a:prstGeom>
        </p:spPr>
      </p:pic>
      <p:pic>
        <p:nvPicPr>
          <p:cNvPr id="14" name="Picture 13" descr="flag_emoj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3798" y="3648458"/>
            <a:ext cx="420624" cy="42062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373368" y="5166360"/>
            <a:ext cx="1600200" cy="100584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5221224"/>
            <a:ext cx="1600200" cy="5532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E8710A"/>
                </a:solidFill>
                <a:latin typeface="Times New Roman"/>
                <a:cs typeface="Times New Roman"/>
              </a:rPr>
              <a:t>20 / 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5719572"/>
            <a:ext cx="1600200" cy="4224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4532D"/>
                </a:solidFill>
                <a:latin typeface="Times New Roman"/>
                <a:cs typeface="Times New Roman"/>
              </a:rPr>
              <a:t>tests passed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5166360"/>
            <a:ext cx="1600200" cy="100584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5221224"/>
            <a:ext cx="1600200" cy="5532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E8710A"/>
                </a:solidFill>
                <a:latin typeface="Times New Roman"/>
                <a:cs typeface="Times New Roman"/>
              </a:rPr>
              <a:t>6 /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5719572"/>
            <a:ext cx="1600200" cy="4224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4532D"/>
                </a:solidFill>
                <a:latin typeface="Times New Roman"/>
                <a:cs typeface="Times New Roman"/>
              </a:rPr>
              <a:t>error cases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11512" y="5166360"/>
            <a:ext cx="1600200" cy="100584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11512" y="5221224"/>
            <a:ext cx="1600200" cy="5532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E8710A"/>
                </a:solidFill>
                <a:latin typeface="Times New Roman"/>
                <a:cs typeface="Times New Roman"/>
              </a:rPr>
              <a:t>≈ 95 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1512" y="5719572"/>
            <a:ext cx="1600200" cy="4224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4532D"/>
                </a:solidFill>
                <a:latin typeface="Times New Roman"/>
                <a:cs typeface="Times New Roman"/>
              </a:rPr>
              <a:t>avg. response</a:t>
            </a:r>
          </a:p>
        </p:txBody>
      </p:sp>
      <p:pic>
        <p:nvPicPr>
          <p:cNvPr id="24" name="Picture 23" descr="cart_emoj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292608"/>
            <a:ext cx="493776" cy="493776"/>
          </a:xfrm>
          <a:prstGeom prst="rect">
            <a:avLst/>
          </a:prstGeom>
        </p:spPr>
      </p:pic>
      <p:pic>
        <p:nvPicPr>
          <p:cNvPr id="25" name="Picture 24" descr="apple_emoj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560" y="292608"/>
            <a:ext cx="493776" cy="493776"/>
          </a:xfrm>
          <a:prstGeom prst="rect">
            <a:avLst/>
          </a:prstGeom>
        </p:spPr>
      </p:pic>
      <p:pic>
        <p:nvPicPr>
          <p:cNvPr id="26" name="Picture 25" descr="carrot_emoj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0200" y="292608"/>
            <a:ext cx="493776" cy="49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474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419B9-8D2B-A5A3-F590-0BFB33841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FBA6E-00B3-FA77-124C-9ED96ECA4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b="1" dirty="0">
                <a:solidFill>
                  <a:srgbClr val="1453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Input, Analysis &amp; Insights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5D538F8-98D7-48A3-27E2-29A0B6829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3</a:t>
            </a:fld>
            <a:endParaRPr lang="en-IN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A5BEA90-A627-443A-8EA9-207D3A67C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06/10/2026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0AD397-676F-684A-AD7C-D3C8687BC1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4" name="Footer Placeholder 17">
            <a:extLst>
              <a:ext uri="{FF2B5EF4-FFF2-40B4-BE49-F238E27FC236}">
                <a16:creationId xmlns:a16="http://schemas.microsoft.com/office/drawing/2014/main" id="{8E569DF1-A45B-2F18-2C1D-E91C9F96E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F972567-383A-549B-CF00-1D76A4759ADD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5431322" cy="2616202"/>
          </a:xfrm>
          <a:prstGeom prst="rect">
            <a:avLst/>
          </a:prstGeom>
          <a:noFill/>
          <a:ln w="22225">
            <a:solidFill>
              <a:srgbClr val="14532D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900"/>
              </a:spcAft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rgbClr val="1453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/ Data Sources</a:t>
            </a:r>
          </a:p>
          <a:p>
            <a:pPr marL="228600" indent="-228600">
              <a:spcBef>
                <a:spcPts val="0"/>
              </a:spcBef>
              <a:spcAft>
                <a:spcPts val="500"/>
              </a:spcAft>
              <a:buClr>
                <a:srgbClr val="E8710A"/>
              </a:buClr>
              <a:buFont typeface="Arial"/>
              <a:buChar char="•"/>
            </a:pPr>
            <a:r>
              <a:rPr lang="en-US" sz="1400" b="1" i="0" dirty="0">
                <a:solidFill>
                  <a:srgbClr val="14532D"/>
                </a:solidFill>
                <a:latin typeface="Times New Roman"/>
                <a:cs typeface="Times New Roman"/>
              </a:rPr>
              <a:t>Product catalogue: </a:t>
            </a:r>
            <a:r>
              <a:rPr lang="en-US" sz="1400" b="0" i="0" dirty="0">
                <a:latin typeface="Times New Roman"/>
                <a:cs typeface="Times New Roman"/>
              </a:rPr>
              <a:t>12 sample grocery items on 7 shelves (name, price, shelf)</a:t>
            </a:r>
          </a:p>
          <a:p>
            <a:pPr marL="228600" indent="-228600">
              <a:spcBef>
                <a:spcPts val="0"/>
              </a:spcBef>
              <a:spcAft>
                <a:spcPts val="500"/>
              </a:spcAft>
              <a:buClr>
                <a:srgbClr val="E8710A"/>
              </a:buClr>
              <a:buFont typeface="Arial"/>
              <a:buChar char="•"/>
            </a:pPr>
            <a:r>
              <a:rPr lang="en-US" sz="1400" b="1" i="0" dirty="0">
                <a:solidFill>
                  <a:srgbClr val="14532D"/>
                </a:solidFill>
                <a:latin typeface="Times New Roman"/>
                <a:cs typeface="Times New Roman"/>
              </a:rPr>
              <a:t>Search text </a:t>
            </a:r>
            <a:r>
              <a:rPr lang="en-US" sz="1400" b="0" i="0" dirty="0">
                <a:latin typeface="Times New Roman"/>
                <a:cs typeface="Times New Roman"/>
              </a:rPr>
              <a:t>typed by the shopper</a:t>
            </a:r>
          </a:p>
          <a:p>
            <a:pPr marL="228600" indent="-228600">
              <a:spcBef>
                <a:spcPts val="0"/>
              </a:spcBef>
              <a:spcAft>
                <a:spcPts val="500"/>
              </a:spcAft>
              <a:buClr>
                <a:srgbClr val="E8710A"/>
              </a:buClr>
              <a:buFont typeface="Arial"/>
              <a:buChar char="•"/>
            </a:pPr>
            <a:r>
              <a:rPr lang="en-US" sz="1400" b="1" i="0" dirty="0">
                <a:solidFill>
                  <a:srgbClr val="14532D"/>
                </a:solidFill>
                <a:latin typeface="Times New Roman"/>
                <a:cs typeface="Times New Roman"/>
              </a:rPr>
              <a:t>Cart actions: </a:t>
            </a:r>
            <a:r>
              <a:rPr lang="en-US" sz="1400" b="0" i="0" dirty="0">
                <a:latin typeface="Times New Roman"/>
                <a:cs typeface="Times New Roman"/>
              </a:rPr>
              <a:t>add / remove items and quantities</a:t>
            </a:r>
          </a:p>
          <a:p>
            <a:pPr marL="228600" indent="-228600">
              <a:spcBef>
                <a:spcPts val="0"/>
              </a:spcBef>
              <a:spcAft>
                <a:spcPts val="0"/>
              </a:spcAft>
              <a:buClr>
                <a:srgbClr val="E8710A"/>
              </a:buClr>
              <a:buFont typeface="Arial"/>
              <a:buChar char="•"/>
            </a:pPr>
            <a:r>
              <a:rPr lang="en-US" sz="1400" b="1" i="0" dirty="0">
                <a:solidFill>
                  <a:srgbClr val="14532D"/>
                </a:solidFill>
                <a:latin typeface="Times New Roman"/>
                <a:cs typeface="Times New Roman"/>
              </a:rPr>
              <a:t>Customer details: </a:t>
            </a:r>
            <a:r>
              <a:rPr lang="en-US" sz="1400" b="0" i="0" dirty="0">
                <a:latin typeface="Times New Roman"/>
                <a:cs typeface="Times New Roman"/>
              </a:rPr>
              <a:t>name, phone, email, address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3E7483B-4811-61DA-D7B7-E92B17337300}"/>
              </a:ext>
            </a:extLst>
          </p:cNvPr>
          <p:cNvSpPr txBox="1">
            <a:spLocks/>
          </p:cNvSpPr>
          <p:nvPr/>
        </p:nvSpPr>
        <p:spPr>
          <a:xfrm>
            <a:off x="6232358" y="995680"/>
            <a:ext cx="5431322" cy="5360670"/>
          </a:xfrm>
          <a:prstGeom prst="rect">
            <a:avLst/>
          </a:prstGeom>
          <a:noFill/>
          <a:ln w="22225">
            <a:solidFill>
              <a:srgbClr val="14532D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900"/>
              </a:spcAft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rgbClr val="1453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/ Processing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400" b="1" i="0" dirty="0">
                <a:solidFill>
                  <a:srgbClr val="14532D"/>
                </a:solidFill>
                <a:latin typeface="Times New Roman"/>
                <a:cs typeface="Times New Roman"/>
              </a:rPr>
              <a:t>1. Validate </a:t>
            </a:r>
            <a:r>
              <a:rPr lang="en-US" sz="1400" b="0" i="0" dirty="0">
                <a:latin typeface="Times New Roman"/>
                <a:cs typeface="Times New Roman"/>
              </a:rPr>
              <a:t>name, quantity and empty-cart check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400" b="1" i="0" dirty="0">
                <a:solidFill>
                  <a:srgbClr val="14532D"/>
                </a:solidFill>
                <a:latin typeface="Times New Roman"/>
                <a:cs typeface="Times New Roman"/>
              </a:rPr>
              <a:t>2. Filter </a:t>
            </a:r>
            <a:r>
              <a:rPr lang="en-US" sz="1400" b="0" i="0" dirty="0">
                <a:latin typeface="Times New Roman"/>
                <a:cs typeface="Times New Roman"/>
              </a:rPr>
              <a:t>the catalogue live as the shopper types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400" b="1" i="0" dirty="0">
                <a:solidFill>
                  <a:srgbClr val="14532D"/>
                </a:solidFill>
                <a:latin typeface="Times New Roman"/>
                <a:cs typeface="Times New Roman"/>
              </a:rPr>
              <a:t>3. Merge </a:t>
            </a:r>
            <a:r>
              <a:rPr lang="en-US" sz="1400" b="0" i="0" dirty="0">
                <a:latin typeface="Times New Roman"/>
                <a:cs typeface="Times New Roman"/>
              </a:rPr>
              <a:t>duplicates with Map.merge() and recompute the total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400" b="1" i="0" dirty="0">
                <a:solidFill>
                  <a:srgbClr val="14532D"/>
                </a:solidFill>
                <a:latin typeface="Times New Roman"/>
                <a:cs typeface="Times New Roman"/>
              </a:rPr>
              <a:t>4. Catch </a:t>
            </a:r>
            <a:r>
              <a:rPr lang="en-US" sz="1400" b="0" i="0" dirty="0">
                <a:latin typeface="Times New Roman"/>
                <a:cs typeface="Times New Roman"/>
              </a:rPr>
              <a:t>invalid input and SQL errors with exceptions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4532D"/>
                </a:solidFill>
                <a:latin typeface="Times New Roman"/>
                <a:cs typeface="Times New Roman"/>
              </a:rPr>
              <a:t>5. Persist </a:t>
            </a:r>
            <a:r>
              <a:rPr lang="en-US" sz="1400" b="0" i="0" dirty="0">
                <a:latin typeface="Times New Roman"/>
                <a:cs typeface="Times New Roman"/>
              </a:rPr>
              <a:t>cart and checkout via JDBC / MySQL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DC3270D-AF1C-3E78-E712-FD035746225B}"/>
              </a:ext>
            </a:extLst>
          </p:cNvPr>
          <p:cNvSpPr txBox="1">
            <a:spLocks/>
          </p:cNvSpPr>
          <p:nvPr/>
        </p:nvSpPr>
        <p:spPr>
          <a:xfrm>
            <a:off x="528320" y="3740148"/>
            <a:ext cx="5431322" cy="2616202"/>
          </a:xfrm>
          <a:prstGeom prst="rect">
            <a:avLst/>
          </a:prstGeom>
          <a:noFill/>
          <a:ln w="22225">
            <a:solidFill>
              <a:srgbClr val="14532D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900"/>
              </a:spcAft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rgbClr val="1453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lr>
                <a:srgbClr val="E8710A"/>
              </a:buClr>
              <a:buFont typeface="Arial"/>
              <a:buChar char="•"/>
            </a:pPr>
            <a:r>
              <a:rPr lang="en-US" sz="1400" b="0" i="0" dirty="0">
                <a:latin typeface="Times New Roman"/>
                <a:cs typeface="Times New Roman"/>
              </a:rPr>
              <a:t>Edge cases (empty cart, non-numeric quantity) surfaced only when tests supplied invalid input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lr>
                <a:srgbClr val="E8710A"/>
              </a:buClr>
              <a:buFont typeface="Arial"/>
              <a:buChar char="•"/>
            </a:pPr>
            <a:r>
              <a:rPr lang="en-US" sz="1400" b="0" i="0" dirty="0">
                <a:latin typeface="Times New Roman"/>
                <a:cs typeface="Times New Roman"/>
              </a:rPr>
              <a:t>Collections made search easier to extend with new products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lr>
                <a:srgbClr val="E8710A"/>
              </a:buClr>
              <a:buFont typeface="Arial"/>
              <a:buChar char="•"/>
            </a:pPr>
            <a:r>
              <a:rPr lang="en-US" sz="1400" b="0" i="0" dirty="0">
                <a:latin typeface="Times New Roman"/>
                <a:cs typeface="Times New Roman"/>
              </a:rPr>
              <a:t>An abstraction layer made the JDBC swap simple</a:t>
            </a:r>
          </a:p>
          <a:p>
            <a:pPr marL="228600" indent="-228600">
              <a:spcBef>
                <a:spcPts val="0"/>
              </a:spcBef>
              <a:spcAft>
                <a:spcPts val="0"/>
              </a:spcAft>
              <a:buClr>
                <a:srgbClr val="E8710A"/>
              </a:buClr>
              <a:buFont typeface="Arial"/>
              <a:buChar char="•"/>
            </a:pPr>
            <a:r>
              <a:rPr lang="en-US" sz="1400" b="1" i="0" dirty="0">
                <a:solidFill>
                  <a:srgbClr val="14532D"/>
                </a:solidFill>
                <a:latin typeface="Times New Roman"/>
                <a:cs typeface="Times New Roman"/>
              </a:rPr>
              <a:t>Response time fell from ≈180 ms to ≈95 ms</a:t>
            </a:r>
          </a:p>
        </p:txBody>
      </p:sp>
      <p:pic>
        <p:nvPicPr>
          <p:cNvPr id="14" name="Picture 13" descr="db_emoj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59" y="1032256"/>
            <a:ext cx="420624" cy="420624"/>
          </a:xfrm>
          <a:prstGeom prst="rect">
            <a:avLst/>
          </a:prstGeom>
        </p:spPr>
      </p:pic>
      <p:pic>
        <p:nvPicPr>
          <p:cNvPr id="15" name="Picture 14" descr="tools_emoj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798" y="1032256"/>
            <a:ext cx="420624" cy="420624"/>
          </a:xfrm>
          <a:prstGeom prst="rect">
            <a:avLst/>
          </a:prstGeom>
        </p:spPr>
      </p:pic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6355080" y="3657600"/>
          <a:ext cx="5166360" cy="26060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pic>
        <p:nvPicPr>
          <p:cNvPr id="17" name="Picture 16" descr="bulb_emoj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759" y="3776724"/>
            <a:ext cx="420624" cy="420624"/>
          </a:xfrm>
          <a:prstGeom prst="rect">
            <a:avLst/>
          </a:prstGeom>
        </p:spPr>
      </p:pic>
      <p:pic>
        <p:nvPicPr>
          <p:cNvPr id="18" name="Picture 17" descr="cart_emoj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292608"/>
            <a:ext cx="493776" cy="493776"/>
          </a:xfrm>
          <a:prstGeom prst="rect">
            <a:avLst/>
          </a:prstGeom>
        </p:spPr>
      </p:pic>
      <p:pic>
        <p:nvPicPr>
          <p:cNvPr id="19" name="Picture 18" descr="apple_emoj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560" y="292608"/>
            <a:ext cx="493776" cy="493776"/>
          </a:xfrm>
          <a:prstGeom prst="rect">
            <a:avLst/>
          </a:prstGeom>
        </p:spPr>
      </p:pic>
      <p:pic>
        <p:nvPicPr>
          <p:cNvPr id="20" name="Picture 19" descr="carrot_emoji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00200" y="292608"/>
            <a:ext cx="493776" cy="49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102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15378-57A1-BD2B-6825-39104D9E9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6032-DF0E-254C-0CD8-AB6E66698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dirty="0">
                <a:solidFill>
                  <a:srgbClr val="1453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solidFill>
                  <a:srgbClr val="1453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518352F-9C19-CF1E-1D03-4BACF46A8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4</a:t>
            </a:fld>
            <a:endParaRPr lang="en-I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B39290C-FF8D-37DE-61F5-B382DBC80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06/10/2026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9A8F1E-B41B-EFBC-9FA3-324946ED4A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id="{20C423C8-65A4-300E-51C7-B4952EDE1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65AD724-9C99-5D2A-C540-18B286306A28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5431322" cy="2616202"/>
          </a:xfrm>
          <a:prstGeom prst="rect">
            <a:avLst/>
          </a:prstGeom>
          <a:noFill/>
          <a:ln w="22225">
            <a:solidFill>
              <a:srgbClr val="14532D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900"/>
              </a:spcAft>
              <a:buNone/>
            </a:pPr>
            <a:r>
              <a:rPr lang="en-US" sz="2000" b="1" dirty="0">
                <a:solidFill>
                  <a:srgbClr val="1453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6FB5461-00D8-24D8-D0A0-BD98F40612EA}"/>
              </a:ext>
            </a:extLst>
          </p:cNvPr>
          <p:cNvSpPr txBox="1">
            <a:spLocks/>
          </p:cNvSpPr>
          <p:nvPr/>
        </p:nvSpPr>
        <p:spPr>
          <a:xfrm>
            <a:off x="6232358" y="995680"/>
            <a:ext cx="5431322" cy="5360670"/>
          </a:xfrm>
          <a:prstGeom prst="rect">
            <a:avLst/>
          </a:prstGeom>
          <a:noFill/>
          <a:ln w="22225">
            <a:solidFill>
              <a:srgbClr val="14532D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900"/>
              </a:spcAft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rgbClr val="1453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Process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42911C6-4047-D019-EA7D-28985C058142}"/>
              </a:ext>
            </a:extLst>
          </p:cNvPr>
          <p:cNvSpPr txBox="1">
            <a:spLocks/>
          </p:cNvSpPr>
          <p:nvPr/>
        </p:nvSpPr>
        <p:spPr>
          <a:xfrm>
            <a:off x="528320" y="3740148"/>
            <a:ext cx="5431322" cy="2616202"/>
          </a:xfrm>
          <a:prstGeom prst="rect">
            <a:avLst/>
          </a:prstGeom>
          <a:noFill/>
          <a:ln w="22225">
            <a:solidFill>
              <a:srgbClr val="14532D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900"/>
              </a:spcAft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rgbClr val="1453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pic>
        <p:nvPicPr>
          <p:cNvPr id="18" name="Picture 17" descr="layers_emoj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759" y="1032256"/>
            <a:ext cx="420624" cy="420624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58368" y="1554480"/>
            <a:ext cx="868680" cy="178308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user_emoj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1609344"/>
            <a:ext cx="594360" cy="5943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58368" y="2249424"/>
            <a:ext cx="86868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200" b="1" i="0" dirty="0">
                <a:solidFill>
                  <a:srgbClr val="14532D"/>
                </a:solidFill>
                <a:latin typeface="Times New Roman"/>
                <a:cs typeface="Times New Roman"/>
              </a:rPr>
              <a:t>Customer Input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111111"/>
                </a:solidFill>
                <a:latin typeface="Times New Roman"/>
                <a:cs typeface="Times New Roman"/>
              </a:rPr>
              <a:t>search, cart, form</a:t>
            </a:r>
          </a:p>
        </p:txBody>
      </p:sp>
      <p:pic>
        <p:nvPicPr>
          <p:cNvPr id="22" name="Picture 21" descr="chev_plain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336" y="2331720"/>
            <a:ext cx="182880" cy="18288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1746504" y="1554480"/>
            <a:ext cx="868680" cy="178308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heck_emoj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83664" y="1609344"/>
            <a:ext cx="594360" cy="5943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746504" y="2249424"/>
            <a:ext cx="86868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200" b="1" i="0" dirty="0">
                <a:solidFill>
                  <a:srgbClr val="14532D"/>
                </a:solidFill>
                <a:latin typeface="Times New Roman"/>
                <a:cs typeface="Times New Roman"/>
              </a:rPr>
              <a:t>Validation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111111"/>
                </a:solidFill>
                <a:latin typeface="Times New Roman"/>
                <a:cs typeface="Times New Roman"/>
              </a:rPr>
              <a:t>name, qty, cart</a:t>
            </a:r>
          </a:p>
        </p:txBody>
      </p:sp>
      <p:pic>
        <p:nvPicPr>
          <p:cNvPr id="26" name="Picture 25" descr="chev_plain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3472" y="2331720"/>
            <a:ext cx="182880" cy="18288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2834639" y="1554480"/>
            <a:ext cx="868680" cy="178308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ode_emoj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71799" y="1609344"/>
            <a:ext cx="594360" cy="5943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834639" y="2249424"/>
            <a:ext cx="86868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200" b="1" i="0" dirty="0">
                <a:solidFill>
                  <a:srgbClr val="14532D"/>
                </a:solidFill>
                <a:latin typeface="Times New Roman"/>
                <a:cs typeface="Times New Roman"/>
              </a:rPr>
              <a:t>Java Processing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111111"/>
                </a:solidFill>
                <a:latin typeface="Times New Roman"/>
                <a:cs typeface="Times New Roman"/>
              </a:rPr>
              <a:t>Product, Cart, Customer</a:t>
            </a:r>
          </a:p>
        </p:txBody>
      </p:sp>
      <p:pic>
        <p:nvPicPr>
          <p:cNvPr id="30" name="Picture 29" descr="chev_plain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1607" y="2331720"/>
            <a:ext cx="182880" cy="18288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3922776" y="1554480"/>
            <a:ext cx="868680" cy="178308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db_emoji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59936" y="1609344"/>
            <a:ext cx="594360" cy="59436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922776" y="2249424"/>
            <a:ext cx="86868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200" b="1" i="0" dirty="0">
                <a:solidFill>
                  <a:srgbClr val="14532D"/>
                </a:solidFill>
                <a:latin typeface="Times New Roman"/>
                <a:cs typeface="Times New Roman"/>
              </a:rPr>
              <a:t>JDBC / MySQL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111111"/>
                </a:solidFill>
                <a:latin typeface="Times New Roman"/>
                <a:cs typeface="Times New Roman"/>
              </a:rPr>
              <a:t>catalogue, cart, records</a:t>
            </a:r>
          </a:p>
        </p:txBody>
      </p:sp>
      <p:pic>
        <p:nvPicPr>
          <p:cNvPr id="34" name="Picture 33" descr="chev_plain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9744" y="2331720"/>
            <a:ext cx="182880" cy="182880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5010912" y="1554480"/>
            <a:ext cx="868680" cy="178308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receipt_emoji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48072" y="1609344"/>
            <a:ext cx="594360" cy="59436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010912" y="2249424"/>
            <a:ext cx="86868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200" b="1" i="0" dirty="0">
                <a:solidFill>
                  <a:srgbClr val="14532D"/>
                </a:solidFill>
                <a:latin typeface="Times New Roman"/>
                <a:cs typeface="Times New Roman"/>
              </a:rPr>
              <a:t>Bill Output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111111"/>
                </a:solidFill>
                <a:latin typeface="Times New Roman"/>
                <a:cs typeface="Times New Roman"/>
              </a:rPr>
              <a:t>total and final bill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3401568"/>
            <a:ext cx="5212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dirty="0">
                <a:solidFill>
                  <a:srgbClr val="14532D"/>
                </a:solidFill>
                <a:latin typeface="Times New Roman"/>
                <a:cs typeface="Times New Roman"/>
              </a:rPr>
              <a:t>Modular OOP design: Product · Cart · Customer · Bill</a:t>
            </a:r>
          </a:p>
        </p:txBody>
      </p:sp>
      <p:pic>
        <p:nvPicPr>
          <p:cNvPr id="39" name="Picture 38" descr="tools_emoji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3798" y="1032256"/>
            <a:ext cx="420624" cy="420624"/>
          </a:xfrm>
          <a:prstGeom prst="rect">
            <a:avLst/>
          </a:prstGeom>
        </p:spPr>
      </p:pic>
      <p:pic>
        <p:nvPicPr>
          <p:cNvPr id="40" name="Picture 39" descr="target_emoji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5080" y="1668780"/>
            <a:ext cx="603504" cy="60350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040880" y="1536192"/>
            <a:ext cx="4462272" cy="8686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500" b="1" i="0" dirty="0">
                <a:solidFill>
                  <a:srgbClr val="14532D"/>
                </a:solidFill>
                <a:latin typeface="Times New Roman"/>
                <a:cs typeface="Times New Roman"/>
              </a:rPr>
              <a:t>1. Plan &amp; design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11111"/>
                </a:solidFill>
                <a:latin typeface="Times New Roman"/>
                <a:cs typeface="Times New Roman"/>
              </a:rPr>
              <a:t>Requirements, Product / Cart / Customer classes, MySQL schema</a:t>
            </a:r>
          </a:p>
        </p:txBody>
      </p:sp>
      <p:pic>
        <p:nvPicPr>
          <p:cNvPr id="42" name="Picture 41" descr="seed_emoji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55080" y="2619756"/>
            <a:ext cx="603504" cy="60350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40880" y="2487168"/>
            <a:ext cx="4462272" cy="8686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500" b="1" i="0" dirty="0">
                <a:solidFill>
                  <a:srgbClr val="14532D"/>
                </a:solidFill>
                <a:latin typeface="Times New Roman"/>
                <a:cs typeface="Times New Roman"/>
              </a:rPr>
              <a:t>2. Baseline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11111"/>
                </a:solidFill>
                <a:latin typeface="Times New Roman"/>
                <a:cs typeface="Times New Roman"/>
              </a:rPr>
              <a:t>Hard-coded list and simple add-to-cart; no validation or database</a:t>
            </a:r>
          </a:p>
        </p:txBody>
      </p:sp>
      <p:pic>
        <p:nvPicPr>
          <p:cNvPr id="44" name="Picture 43" descr="tools_emoji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5080" y="3570732"/>
            <a:ext cx="603504" cy="60350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040880" y="3438144"/>
            <a:ext cx="4462272" cy="8686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500" b="1" i="0" dirty="0">
                <a:solidFill>
                  <a:srgbClr val="14532D"/>
                </a:solidFill>
                <a:latin typeface="Times New Roman"/>
                <a:cs typeface="Times New Roman"/>
              </a:rPr>
              <a:t>3. Refinement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11111"/>
                </a:solidFill>
                <a:latin typeface="Times New Roman"/>
                <a:cs typeface="Times New Roman"/>
              </a:rPr>
              <a:t>OOP classes, Collections, exceptions, JDBC persistence</a:t>
            </a:r>
          </a:p>
        </p:txBody>
      </p:sp>
      <p:pic>
        <p:nvPicPr>
          <p:cNvPr id="46" name="Picture 45" descr="rocket_emoji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55080" y="4521707"/>
            <a:ext cx="603504" cy="60350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040880" y="4389120"/>
            <a:ext cx="4462272" cy="8686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500" b="1" i="0" dirty="0">
                <a:solidFill>
                  <a:srgbClr val="14532D"/>
                </a:solidFill>
                <a:latin typeface="Times New Roman"/>
                <a:cs typeface="Times New Roman"/>
              </a:rPr>
              <a:t>4. Final approach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11111"/>
                </a:solidFill>
                <a:latin typeface="Times New Roman"/>
                <a:cs typeface="Times New Roman"/>
              </a:rPr>
              <a:t>Abstraction layer, full validation, JDBC end-to-end</a:t>
            </a:r>
          </a:p>
        </p:txBody>
      </p:sp>
      <p:pic>
        <p:nvPicPr>
          <p:cNvPr id="48" name="Picture 47" descr="clip_emoji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55080" y="5472683"/>
            <a:ext cx="603504" cy="60350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040880" y="5340096"/>
            <a:ext cx="4462272" cy="8686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500" b="1" i="0" dirty="0">
                <a:solidFill>
                  <a:srgbClr val="14532D"/>
                </a:solidFill>
                <a:latin typeface="Times New Roman"/>
                <a:cs typeface="Times New Roman"/>
              </a:rPr>
              <a:t>5. Test &amp; verify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11111"/>
                </a:solidFill>
                <a:latin typeface="Times New Roman"/>
                <a:cs typeface="Times New Roman"/>
              </a:rPr>
              <a:t>20 test cases and 6 error scenarios, all passing</a:t>
            </a:r>
          </a:p>
        </p:txBody>
      </p:sp>
      <p:pic>
        <p:nvPicPr>
          <p:cNvPr id="50" name="Picture 49" descr="code_emoj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759" y="3776724"/>
            <a:ext cx="420624" cy="420624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658368" y="4297680"/>
            <a:ext cx="1645920" cy="82296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code_emoj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" y="4471416"/>
            <a:ext cx="475488" cy="47548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298448" y="4297680"/>
            <a:ext cx="91440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14532D"/>
                </a:solidFill>
                <a:latin typeface="Times New Roman"/>
                <a:cs typeface="Times New Roman"/>
              </a:rPr>
              <a:t>Java 17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395728" y="4297680"/>
            <a:ext cx="1645920" cy="82296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layers_emoj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7168" y="4471416"/>
            <a:ext cx="475488" cy="475488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3035808" y="4297680"/>
            <a:ext cx="91440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14532D"/>
                </a:solidFill>
                <a:latin typeface="Times New Roman"/>
                <a:cs typeface="Times New Roman"/>
              </a:rPr>
              <a:t>Collections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133087" y="4297680"/>
            <a:ext cx="1645920" cy="82296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plug_emoji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24527" y="4471416"/>
            <a:ext cx="475488" cy="47548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4773167" y="4297680"/>
            <a:ext cx="91440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14532D"/>
                </a:solidFill>
                <a:latin typeface="Times New Roman"/>
                <a:cs typeface="Times New Roman"/>
              </a:rPr>
              <a:t>JDBC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58368" y="5257800"/>
            <a:ext cx="1645920" cy="82296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db_emoji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" y="5431536"/>
            <a:ext cx="475488" cy="475488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298448" y="5257800"/>
            <a:ext cx="91440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14532D"/>
                </a:solidFill>
                <a:latin typeface="Times New Roman"/>
                <a:cs typeface="Times New Roman"/>
              </a:rPr>
              <a:t>MySQL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395728" y="5257800"/>
            <a:ext cx="1645920" cy="82296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tools_emoji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87168" y="5431536"/>
            <a:ext cx="475488" cy="475488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3035808" y="5257800"/>
            <a:ext cx="91440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14532D"/>
                </a:solidFill>
                <a:latin typeface="Times New Roman"/>
                <a:cs typeface="Times New Roman"/>
              </a:rPr>
              <a:t>IntelliJ / VS Code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133087" y="5257800"/>
            <a:ext cx="1645920" cy="82296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github_emoji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24527" y="5431536"/>
            <a:ext cx="475488" cy="475488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4773167" y="5257800"/>
            <a:ext cx="91440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14532D"/>
                </a:solidFill>
                <a:latin typeface="Times New Roman"/>
                <a:cs typeface="Times New Roman"/>
              </a:rPr>
              <a:t>Git / GitHub</a:t>
            </a:r>
          </a:p>
        </p:txBody>
      </p:sp>
      <p:pic>
        <p:nvPicPr>
          <p:cNvPr id="69" name="Picture 68" descr="cart_emoji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2920" y="292608"/>
            <a:ext cx="493776" cy="493776"/>
          </a:xfrm>
          <a:prstGeom prst="rect">
            <a:avLst/>
          </a:prstGeom>
        </p:spPr>
      </p:pic>
      <p:pic>
        <p:nvPicPr>
          <p:cNvPr id="70" name="Picture 69" descr="apple_emoji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51560" y="292608"/>
            <a:ext cx="493776" cy="493776"/>
          </a:xfrm>
          <a:prstGeom prst="rect">
            <a:avLst/>
          </a:prstGeom>
        </p:spPr>
      </p:pic>
      <p:pic>
        <p:nvPicPr>
          <p:cNvPr id="71" name="Picture 70" descr="carrot_emoji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600200" y="292608"/>
            <a:ext cx="493776" cy="49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179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618C8-1A4F-EFB9-CA30-299146157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40AA7-ACBA-6CC8-C67C-FB16D1F50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dirty="0">
                <a:solidFill>
                  <a:srgbClr val="1453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solidFill>
                  <a:srgbClr val="1453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Feasibility, Risk and Challenges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1E70550-5F49-E002-6AE3-6E645A7FB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5</a:t>
            </a:fld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383AF-943A-AF13-9532-2E7247763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06/10/2026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F922E5-3869-BACF-D57D-A6E439B7C4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id="{6DD06387-97D0-39D2-34A2-A189B9C87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1C04632-2C25-41CF-16BF-7E21BD7B277A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5431322" cy="2616202"/>
          </a:xfrm>
          <a:prstGeom prst="rect">
            <a:avLst/>
          </a:prstGeom>
          <a:noFill/>
          <a:ln w="22225">
            <a:solidFill>
              <a:srgbClr val="14532D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900"/>
              </a:spcAft>
              <a:buNone/>
            </a:pPr>
            <a:r>
              <a:rPr lang="en-US" sz="2000" b="1" dirty="0">
                <a:solidFill>
                  <a:srgbClr val="1453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</a:p>
          <a:p>
            <a:pPr marL="228600" indent="-228600">
              <a:spcBef>
                <a:spcPts val="0"/>
              </a:spcBef>
              <a:spcAft>
                <a:spcPts val="500"/>
              </a:spcAft>
              <a:buClr>
                <a:srgbClr val="E8710A"/>
              </a:buClr>
              <a:buFont typeface="Arial"/>
              <a:buChar char="•"/>
            </a:pPr>
            <a:r>
              <a:rPr lang="en-US" sz="1400" b="0" i="0" dirty="0">
                <a:latin typeface="Times New Roman"/>
                <a:cs typeface="Times New Roman"/>
              </a:rPr>
              <a:t>Single-store catalogue, one active cart and JDBC persistence fit the 12-week cycle for a two-member team</a:t>
            </a:r>
          </a:p>
          <a:p>
            <a:pPr marL="228600" indent="-228600">
              <a:spcBef>
                <a:spcPts val="0"/>
              </a:spcBef>
              <a:spcAft>
                <a:spcPts val="500"/>
              </a:spcAft>
              <a:buClr>
                <a:srgbClr val="E8710A"/>
              </a:buClr>
              <a:buFont typeface="Arial"/>
              <a:buChar char="•"/>
            </a:pPr>
            <a:r>
              <a:rPr lang="en-US" sz="1400" b="0" i="0" dirty="0">
                <a:latin typeface="Times New Roman"/>
                <a:cs typeface="Times New Roman"/>
              </a:rPr>
              <a:t>Reuses class designs from the course's OOP and JDBC modules</a:t>
            </a:r>
          </a:p>
          <a:p>
            <a:pPr marL="228600" indent="-228600">
              <a:spcBef>
                <a:spcPts val="0"/>
              </a:spcBef>
              <a:spcAft>
                <a:spcPts val="0"/>
              </a:spcAft>
              <a:buClr>
                <a:srgbClr val="E8710A"/>
              </a:buClr>
              <a:buFont typeface="Arial"/>
              <a:buChar char="•"/>
            </a:pPr>
            <a:r>
              <a:rPr lang="en-US" sz="1400" b="0" i="0" dirty="0">
                <a:latin typeface="Times New Roman"/>
                <a:cs typeface="Times New Roman"/>
              </a:rPr>
              <a:t>Runs on a standard laptop (Intel i5, 8 GB RAM, Java 17, MySQL) with no paid service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287D6E2-D2A8-8A09-D852-F8844378CEC8}"/>
              </a:ext>
            </a:extLst>
          </p:cNvPr>
          <p:cNvSpPr txBox="1">
            <a:spLocks/>
          </p:cNvSpPr>
          <p:nvPr/>
        </p:nvSpPr>
        <p:spPr>
          <a:xfrm>
            <a:off x="6232358" y="995680"/>
            <a:ext cx="5431322" cy="5360670"/>
          </a:xfrm>
          <a:prstGeom prst="rect">
            <a:avLst/>
          </a:prstGeom>
          <a:noFill/>
          <a:ln w="22225">
            <a:solidFill>
              <a:srgbClr val="14532D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900"/>
              </a:spcAft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rgbClr val="1453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and Challenges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BEEC87A-A354-40E4-44C7-0E984250BF0A}"/>
              </a:ext>
            </a:extLst>
          </p:cNvPr>
          <p:cNvSpPr txBox="1">
            <a:spLocks/>
          </p:cNvSpPr>
          <p:nvPr/>
        </p:nvSpPr>
        <p:spPr>
          <a:xfrm>
            <a:off x="528320" y="3740148"/>
            <a:ext cx="5431322" cy="2616202"/>
          </a:xfrm>
          <a:prstGeom prst="rect">
            <a:avLst/>
          </a:prstGeom>
          <a:noFill/>
          <a:ln w="22225">
            <a:solidFill>
              <a:srgbClr val="14532D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900"/>
              </a:spcAft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rgbClr val="1453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Mitigation</a:t>
            </a:r>
          </a:p>
          <a:p>
            <a:pPr marL="228600" indent="-228600">
              <a:spcBef>
                <a:spcPts val="0"/>
              </a:spcBef>
              <a:spcAft>
                <a:spcPts val="500"/>
              </a:spcAft>
              <a:buClr>
                <a:srgbClr val="E8710A"/>
              </a:buClr>
              <a:buFont typeface="Arial"/>
              <a:buChar char="•"/>
            </a:pPr>
            <a:r>
              <a:rPr lang="en-US" sz="1400" b="0" i="0" dirty="0">
                <a:latin typeface="Times New Roman"/>
                <a:cs typeface="Times New Roman"/>
              </a:rPr>
              <a:t>Map.merge() sums quantities so duplicates become one line</a:t>
            </a:r>
          </a:p>
          <a:p>
            <a:pPr marL="228600" indent="-228600">
              <a:spcBef>
                <a:spcPts val="0"/>
              </a:spcBef>
              <a:spcAft>
                <a:spcPts val="500"/>
              </a:spcAft>
              <a:buClr>
                <a:srgbClr val="E8710A"/>
              </a:buClr>
              <a:buFont typeface="Arial"/>
              <a:buChar char="•"/>
            </a:pPr>
            <a:r>
              <a:rPr lang="en-US" sz="1400" b="0" i="0" dirty="0">
                <a:latin typeface="Times New Roman"/>
                <a:cs typeface="Times New Roman"/>
              </a:rPr>
              <a:t>try-with-resources and PreparedStatement close connections and block SQL injection</a:t>
            </a:r>
          </a:p>
          <a:p>
            <a:pPr marL="228600" indent="-228600">
              <a:spcBef>
                <a:spcPts val="0"/>
              </a:spcBef>
              <a:spcAft>
                <a:spcPts val="500"/>
              </a:spcAft>
              <a:buClr>
                <a:srgbClr val="E8710A"/>
              </a:buClr>
              <a:buFont typeface="Arial"/>
              <a:buChar char="•"/>
            </a:pPr>
            <a:r>
              <a:rPr lang="en-US" sz="1400" b="0" i="0" dirty="0">
                <a:latin typeface="Times New Roman"/>
                <a:cs typeface="Times New Roman"/>
              </a:rPr>
              <a:t>Next time: set up the schema and JDBC in weeks 1–2</a:t>
            </a:r>
          </a:p>
          <a:p>
            <a:pPr marL="228600" indent="-228600">
              <a:spcBef>
                <a:spcPts val="0"/>
              </a:spcBef>
              <a:spcAft>
                <a:spcPts val="0"/>
              </a:spcAft>
              <a:buClr>
                <a:srgbClr val="E8710A"/>
              </a:buClr>
              <a:buFont typeface="Arial"/>
              <a:buChar char="•"/>
            </a:pPr>
            <a:r>
              <a:rPr lang="en-US" sz="1400" b="0" i="0" dirty="0">
                <a:latin typeface="Times New Roman"/>
                <a:cs typeface="Times New Roman"/>
              </a:rPr>
              <a:t>Future: config file for credentials, connection pooling</a:t>
            </a:r>
          </a:p>
        </p:txBody>
      </p:sp>
      <p:pic>
        <p:nvPicPr>
          <p:cNvPr id="16" name="Picture 15" descr="check_emoj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59" y="1032256"/>
            <a:ext cx="420624" cy="420624"/>
          </a:xfrm>
          <a:prstGeom prst="rect">
            <a:avLst/>
          </a:prstGeom>
        </p:spPr>
      </p:pic>
      <p:pic>
        <p:nvPicPr>
          <p:cNvPr id="17" name="Picture 16" descr="warn_emoj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798" y="1032256"/>
            <a:ext cx="420624" cy="420624"/>
          </a:xfrm>
          <a:prstGeom prst="rect">
            <a:avLst/>
          </a:prstGeom>
        </p:spPr>
      </p:pic>
      <p:pic>
        <p:nvPicPr>
          <p:cNvPr id="18" name="Picture 17" descr="warn_emoj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545336"/>
            <a:ext cx="603504" cy="60350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40880" y="1481328"/>
            <a:ext cx="4462272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400" b="1" i="0" dirty="0">
                <a:solidFill>
                  <a:srgbClr val="14532D"/>
                </a:solidFill>
                <a:latin typeface="Times New Roman"/>
                <a:cs typeface="Times New Roman"/>
              </a:rPr>
              <a:t>Duplicate cart entries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11111"/>
                </a:solidFill>
                <a:latin typeface="Times New Roman"/>
                <a:cs typeface="Times New Roman"/>
              </a:rPr>
              <a:t>Repeated add-to-cart clicks created separate line items</a:t>
            </a:r>
          </a:p>
        </p:txBody>
      </p:sp>
      <p:pic>
        <p:nvPicPr>
          <p:cNvPr id="20" name="Picture 19" descr="warn_emoj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350008"/>
            <a:ext cx="603504" cy="60350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40880" y="2286000"/>
            <a:ext cx="4462272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400" b="1" i="0" dirty="0">
                <a:solidFill>
                  <a:srgbClr val="14532D"/>
                </a:solidFill>
                <a:latin typeface="Times New Roman"/>
                <a:cs typeface="Times New Roman"/>
              </a:rPr>
              <a:t>Unclosed DB connection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11111"/>
                </a:solidFill>
                <a:latin typeface="Times New Roman"/>
                <a:cs typeface="Times New Roman"/>
              </a:rPr>
              <a:t>A leftover connection from an earlier run broke checkout</a:t>
            </a:r>
          </a:p>
        </p:txBody>
      </p:sp>
      <p:pic>
        <p:nvPicPr>
          <p:cNvPr id="22" name="Picture 21" descr="warn_emoj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154679"/>
            <a:ext cx="603504" cy="60350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040880" y="3090672"/>
            <a:ext cx="4462272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400" b="1" i="0" dirty="0">
                <a:solidFill>
                  <a:srgbClr val="14532D"/>
                </a:solidFill>
                <a:latin typeface="Times New Roman"/>
                <a:cs typeface="Times New Roman"/>
              </a:rPr>
              <a:t>Late persistence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11111"/>
                </a:solidFill>
                <a:latin typeface="Times New Roman"/>
                <a:cs typeface="Times New Roman"/>
              </a:rPr>
              <a:t>JDBC added in weeks 5–7, so in-memory logic was retrofitted</a:t>
            </a:r>
          </a:p>
        </p:txBody>
      </p:sp>
      <p:pic>
        <p:nvPicPr>
          <p:cNvPr id="24" name="Picture 23" descr="warn_emoj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959352"/>
            <a:ext cx="603504" cy="60350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40880" y="3895344"/>
            <a:ext cx="4462272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400" b="1" i="0" dirty="0">
                <a:solidFill>
                  <a:srgbClr val="14532D"/>
                </a:solidFill>
                <a:latin typeface="Times New Roman"/>
                <a:cs typeface="Times New Roman"/>
              </a:rPr>
              <a:t>Hard-coded credentials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11111"/>
                </a:solidFill>
                <a:latin typeface="Times New Roman"/>
                <a:cs typeface="Times New Roman"/>
              </a:rPr>
              <a:t>Database URL and login are fixed in the source</a:t>
            </a:r>
          </a:p>
        </p:txBody>
      </p:sp>
      <p:pic>
        <p:nvPicPr>
          <p:cNvPr id="26" name="Picture 25" descr="warn_emoj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764024"/>
            <a:ext cx="603504" cy="60350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040880" y="4700016"/>
            <a:ext cx="4462272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400" b="1" i="0" dirty="0">
                <a:solidFill>
                  <a:srgbClr val="14532D"/>
                </a:solidFill>
                <a:latin typeface="Times New Roman"/>
                <a:cs typeface="Times New Roman"/>
              </a:rPr>
              <a:t>Single-session only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11111"/>
                </a:solidFill>
                <a:latin typeface="Times New Roman"/>
                <a:cs typeface="Times New Roman"/>
              </a:rPr>
              <a:t>No concurrency or multi-user testing was performed</a:t>
            </a:r>
          </a:p>
        </p:txBody>
      </p:sp>
      <p:pic>
        <p:nvPicPr>
          <p:cNvPr id="28" name="Picture 27" descr="warn_emoj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5568696"/>
            <a:ext cx="603504" cy="60350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040880" y="5504688"/>
            <a:ext cx="4462272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400" b="1" i="0" dirty="0">
                <a:solidFill>
                  <a:srgbClr val="14532D"/>
                </a:solidFill>
                <a:latin typeface="Times New Roman"/>
                <a:cs typeface="Times New Roman"/>
              </a:rPr>
              <a:t>No payment gateway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11111"/>
                </a:solidFill>
                <a:latin typeface="Times New Roman"/>
                <a:cs typeface="Times New Roman"/>
              </a:rPr>
              <a:t>Checkout generates and stores a bill only</a:t>
            </a:r>
          </a:p>
        </p:txBody>
      </p:sp>
      <p:pic>
        <p:nvPicPr>
          <p:cNvPr id="30" name="Picture 29" descr="shield_emoj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759" y="3776724"/>
            <a:ext cx="420624" cy="420624"/>
          </a:xfrm>
          <a:prstGeom prst="rect">
            <a:avLst/>
          </a:prstGeom>
        </p:spPr>
      </p:pic>
      <p:pic>
        <p:nvPicPr>
          <p:cNvPr id="31" name="Picture 30" descr="cart_emoj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292608"/>
            <a:ext cx="493776" cy="493776"/>
          </a:xfrm>
          <a:prstGeom prst="rect">
            <a:avLst/>
          </a:prstGeom>
        </p:spPr>
      </p:pic>
      <p:pic>
        <p:nvPicPr>
          <p:cNvPr id="32" name="Picture 31" descr="apple_emoj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560" y="292608"/>
            <a:ext cx="493776" cy="493776"/>
          </a:xfrm>
          <a:prstGeom prst="rect">
            <a:avLst/>
          </a:prstGeom>
        </p:spPr>
      </p:pic>
      <p:pic>
        <p:nvPicPr>
          <p:cNvPr id="33" name="Picture 32" descr="carrot_emoj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0200" y="292608"/>
            <a:ext cx="493776" cy="49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038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B97E5-D400-46AE-AE05-98F3D3664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03512-77FF-BCD5-5958-FBFA0FD12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dirty="0">
                <a:solidFill>
                  <a:srgbClr val="1453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solidFill>
                  <a:srgbClr val="1453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and Applications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7D2D4A5-60AA-677E-EC4C-E20C7280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6</a:t>
            </a:fld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3DF96-CDCE-6198-A813-9DB585D26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06/10/2026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6D0B08-F462-E519-F15E-E0BEB7ABC6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id="{C0015C01-C564-94FA-3121-AFE7427CA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E1DBB35-58EA-739D-2CD4-B03EDDE7BA67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11135360" cy="4147419"/>
          </a:xfrm>
          <a:prstGeom prst="rect">
            <a:avLst/>
          </a:prstGeom>
          <a:noFill/>
          <a:ln w="22225">
            <a:solidFill>
              <a:srgbClr val="14532D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900"/>
              </a:spcAft>
              <a:buNone/>
            </a:pPr>
            <a:r>
              <a:rPr lang="en-US" sz="2000" b="1" dirty="0">
                <a:solidFill>
                  <a:srgbClr val="1453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Output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9EE1A65-5554-8149-DD9A-F4A84BC9A521}"/>
              </a:ext>
            </a:extLst>
          </p:cNvPr>
          <p:cNvSpPr txBox="1">
            <a:spLocks/>
          </p:cNvSpPr>
          <p:nvPr/>
        </p:nvSpPr>
        <p:spPr>
          <a:xfrm>
            <a:off x="528320" y="5325979"/>
            <a:ext cx="11135360" cy="1030369"/>
          </a:xfrm>
          <a:prstGeom prst="rect">
            <a:avLst/>
          </a:prstGeom>
          <a:noFill/>
          <a:ln w="22225">
            <a:solidFill>
              <a:srgbClr val="14532D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900"/>
              </a:spcAft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rgbClr val="1453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pic>
        <p:nvPicPr>
          <p:cNvPr id="12" name="Picture 11" descr="chart_emoj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59" y="1032256"/>
            <a:ext cx="420624" cy="420624"/>
          </a:xfrm>
          <a:prstGeom prst="rect">
            <a:avLst/>
          </a:prstGeom>
        </p:spPr>
      </p:pic>
      <p:pic>
        <p:nvPicPr>
          <p:cNvPr id="13" name="Picture 12" descr="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481328"/>
            <a:ext cx="4434840" cy="2718019"/>
          </a:xfrm>
          <a:prstGeom prst="rect">
            <a:avLst/>
          </a:prstGeom>
        </p:spPr>
      </p:pic>
      <p:pic>
        <p:nvPicPr>
          <p:cNvPr id="14" name="Picture 13" descr="image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1481328"/>
            <a:ext cx="4434840" cy="271801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" y="4279392"/>
            <a:ext cx="4434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dirty="0">
                <a:solidFill>
                  <a:srgbClr val="14532D"/>
                </a:solidFill>
                <a:latin typeface="Times New Roman"/>
                <a:cs typeface="Times New Roman"/>
              </a:rPr>
              <a:t>Product catalogue with live search and shelf locator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4279392"/>
            <a:ext cx="4434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dirty="0">
                <a:solidFill>
                  <a:srgbClr val="14532D"/>
                </a:solidFill>
                <a:latin typeface="Times New Roman"/>
                <a:cs typeface="Times New Roman"/>
              </a:rPr>
              <a:t>Cart, customer form and final bill at checkout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66960" y="1481328"/>
            <a:ext cx="1554480" cy="987552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0" y="1536192"/>
            <a:ext cx="1554480" cy="543153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E8710A"/>
                </a:solidFill>
                <a:latin typeface="Times New Roman"/>
                <a:cs typeface="Times New Roman"/>
              </a:rPr>
              <a:t>20 / 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2024481"/>
            <a:ext cx="1554480" cy="41477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4532D"/>
                </a:solidFill>
                <a:latin typeface="Times New Roman"/>
                <a:cs typeface="Times New Roman"/>
              </a:rPr>
              <a:t>test cases passed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66960" y="2578608"/>
            <a:ext cx="1554480" cy="987552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0" y="2633472"/>
            <a:ext cx="1554480" cy="543153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E8710A"/>
                </a:solidFill>
                <a:latin typeface="Times New Roman"/>
                <a:cs typeface="Times New Roman"/>
              </a:rPr>
              <a:t>6 /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3121761"/>
            <a:ext cx="1554480" cy="41477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4532D"/>
                </a:solidFill>
                <a:latin typeface="Times New Roman"/>
                <a:cs typeface="Times New Roman"/>
              </a:rPr>
              <a:t>error scenarios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66960" y="3675887"/>
            <a:ext cx="1554480" cy="987552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3730751"/>
            <a:ext cx="1554480" cy="543153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E8710A"/>
                </a:solidFill>
                <a:latin typeface="Times New Roman"/>
                <a:cs typeface="Times New Roman"/>
              </a:rPr>
              <a:t>≈ 95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4219041"/>
            <a:ext cx="1554480" cy="41477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4532D"/>
                </a:solidFill>
                <a:latin typeface="Times New Roman"/>
                <a:cs typeface="Times New Roman"/>
              </a:rPr>
              <a:t>avg. response</a:t>
            </a:r>
          </a:p>
        </p:txBody>
      </p:sp>
      <p:pic>
        <p:nvPicPr>
          <p:cNvPr id="26" name="Picture 25" descr="store_emoj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759" y="5362555"/>
            <a:ext cx="420624" cy="420624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85800" y="5760720"/>
            <a:ext cx="2103120" cy="475488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tore_emoj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97296"/>
            <a:ext cx="402336" cy="40233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252728" y="5760720"/>
            <a:ext cx="1444751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14532D"/>
                </a:solidFill>
                <a:latin typeface="Times New Roman"/>
                <a:cs typeface="Times New Roman"/>
              </a:rPr>
              <a:t>Supermarkets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80360" y="5760720"/>
            <a:ext cx="2103120" cy="475488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basket_emoj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71800" y="5797296"/>
            <a:ext cx="402336" cy="40233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447288" y="5760720"/>
            <a:ext cx="1444751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14532D"/>
                </a:solidFill>
                <a:latin typeface="Times New Roman"/>
                <a:cs typeface="Times New Roman"/>
              </a:rPr>
              <a:t>Grocery stores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74920" y="5760720"/>
            <a:ext cx="2103120" cy="475488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wheel_emoj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6359" y="5797296"/>
            <a:ext cx="402336" cy="40233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641848" y="5760720"/>
            <a:ext cx="1444751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14532D"/>
                </a:solidFill>
                <a:latin typeface="Times New Roman"/>
                <a:cs typeface="Times New Roman"/>
              </a:rPr>
              <a:t>Elderly-friendly shopping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69479" y="5760720"/>
            <a:ext cx="2103120" cy="475488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tag_emoji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60919" y="5797296"/>
            <a:ext cx="402336" cy="40233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836407" y="5760720"/>
            <a:ext cx="1444751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14532D"/>
                </a:solidFill>
                <a:latin typeface="Times New Roman"/>
                <a:cs typeface="Times New Roman"/>
              </a:rPr>
              <a:t>Campus mini-marts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464040" y="5760720"/>
            <a:ext cx="2103120" cy="475488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mobile_emoji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55480" y="5797296"/>
            <a:ext cx="402336" cy="40233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030967" y="5760720"/>
            <a:ext cx="1444751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14532D"/>
                </a:solidFill>
                <a:latin typeface="Times New Roman"/>
                <a:cs typeface="Times New Roman"/>
              </a:rPr>
              <a:t>Self-service kiosks</a:t>
            </a:r>
          </a:p>
        </p:txBody>
      </p:sp>
      <p:pic>
        <p:nvPicPr>
          <p:cNvPr id="42" name="Picture 41" descr="cart_emoji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920" y="292608"/>
            <a:ext cx="493776" cy="493776"/>
          </a:xfrm>
          <a:prstGeom prst="rect">
            <a:avLst/>
          </a:prstGeom>
        </p:spPr>
      </p:pic>
      <p:pic>
        <p:nvPicPr>
          <p:cNvPr id="43" name="Picture 42" descr="apple_emoji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1560" y="292608"/>
            <a:ext cx="493776" cy="493776"/>
          </a:xfrm>
          <a:prstGeom prst="rect">
            <a:avLst/>
          </a:prstGeom>
        </p:spPr>
      </p:pic>
      <p:pic>
        <p:nvPicPr>
          <p:cNvPr id="44" name="Picture 43" descr="carrot_emoji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00200" y="292608"/>
            <a:ext cx="493776" cy="49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054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361FE-0713-93E6-DB86-E79648324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4127E-C73E-C2B8-523A-E1BCE6D63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b="1" dirty="0">
                <a:solidFill>
                  <a:srgbClr val="1453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Conclusion, Limitations &amp; Future Scope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72919A-FB09-BDBD-EB1B-AC9C345A3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7</a:t>
            </a:fld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32C21-FD78-2AEE-FF81-92AB93C97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06/10/2026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F0DB14-E55E-F110-C797-B68990B575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id="{28924AA9-C1C9-5F20-B7B4-5C66E415C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9DE962E-8FA1-1659-E5F2-3EBFA857DF56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11135360" cy="2433320"/>
          </a:xfrm>
          <a:prstGeom prst="rect">
            <a:avLst/>
          </a:prstGeom>
          <a:noFill/>
          <a:ln w="22225">
            <a:solidFill>
              <a:srgbClr val="14532D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900"/>
              </a:spcAft>
              <a:buNone/>
            </a:pPr>
            <a:r>
              <a:rPr lang="en-US" sz="2000" b="1" dirty="0">
                <a:solidFill>
                  <a:srgbClr val="1453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latin typeface="Times New Roman"/>
                <a:cs typeface="Times New Roman"/>
              </a:rPr>
              <a:t>We developed SMART CART, a Java-based smart shopping application, using core OOP design, Collections and JDBC with MySQL to address slow, error-prone manual in-store shopping. The final version provides product search with shelf location, live cart management, customer registration and bill generation, and passed every planned test.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7714C8B-8CE9-ACE7-94F1-0BFA4EB5B338}"/>
              </a:ext>
            </a:extLst>
          </p:cNvPr>
          <p:cNvSpPr txBox="1">
            <a:spLocks/>
          </p:cNvSpPr>
          <p:nvPr/>
        </p:nvSpPr>
        <p:spPr>
          <a:xfrm>
            <a:off x="6232358" y="3611880"/>
            <a:ext cx="5431322" cy="2744470"/>
          </a:xfrm>
          <a:prstGeom prst="rect">
            <a:avLst/>
          </a:prstGeom>
          <a:noFill/>
          <a:ln w="22225">
            <a:solidFill>
              <a:srgbClr val="14532D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900"/>
              </a:spcAft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rgbClr val="1453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053D1FB-4EE1-2E64-D1C8-8DCF2C5E10E8}"/>
              </a:ext>
            </a:extLst>
          </p:cNvPr>
          <p:cNvSpPr txBox="1">
            <a:spLocks/>
          </p:cNvSpPr>
          <p:nvPr/>
        </p:nvSpPr>
        <p:spPr>
          <a:xfrm>
            <a:off x="528320" y="3611880"/>
            <a:ext cx="5431322" cy="2744470"/>
          </a:xfrm>
          <a:prstGeom prst="rect">
            <a:avLst/>
          </a:prstGeom>
          <a:noFill/>
          <a:ln w="22225">
            <a:solidFill>
              <a:srgbClr val="14532D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900"/>
              </a:spcAft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rgbClr val="1453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</a:t>
            </a:r>
          </a:p>
          <a:p>
            <a:pPr marL="228600" indent="-228600">
              <a:spcBef>
                <a:spcPts val="0"/>
              </a:spcBef>
              <a:spcAft>
                <a:spcPts val="500"/>
              </a:spcAft>
              <a:buClr>
                <a:srgbClr val="E8710A"/>
              </a:buClr>
              <a:buFont typeface="Arial"/>
              <a:buChar char="•"/>
            </a:pPr>
            <a:r>
              <a:rPr lang="en-US" sz="1400" b="0" i="0" dirty="0">
                <a:latin typeface="Times New Roman"/>
                <a:cs typeface="Times New Roman"/>
              </a:rPr>
              <a:t>Small illustrative catalogue of 12 items, not a real store inventory</a:t>
            </a:r>
          </a:p>
          <a:p>
            <a:pPr marL="228600" indent="-228600">
              <a:spcBef>
                <a:spcPts val="0"/>
              </a:spcBef>
              <a:spcAft>
                <a:spcPts val="500"/>
              </a:spcAft>
              <a:buClr>
                <a:srgbClr val="E8710A"/>
              </a:buClr>
              <a:buFont typeface="Arial"/>
              <a:buChar char="•"/>
            </a:pPr>
            <a:r>
              <a:rPr lang="en-US" sz="1400" b="0" i="0" dirty="0">
                <a:latin typeface="Times New Roman"/>
                <a:cs typeface="Times New Roman"/>
              </a:rPr>
              <a:t>No concurrency or multi-user testing; one shopper session assumed</a:t>
            </a:r>
          </a:p>
          <a:p>
            <a:pPr marL="228600" indent="-228600">
              <a:spcBef>
                <a:spcPts val="0"/>
              </a:spcBef>
              <a:spcAft>
                <a:spcPts val="500"/>
              </a:spcAft>
              <a:buClr>
                <a:srgbClr val="E8710A"/>
              </a:buClr>
              <a:buFont typeface="Arial"/>
              <a:buChar char="•"/>
            </a:pPr>
            <a:r>
              <a:rPr lang="en-US" sz="1400" b="0" i="0" dirty="0">
                <a:latin typeface="Times New Roman"/>
                <a:cs typeface="Times New Roman"/>
              </a:rPr>
              <a:t>Database URL and credentials are hard-coded</a:t>
            </a:r>
          </a:p>
          <a:p>
            <a:pPr marL="228600" indent="-228600">
              <a:spcBef>
                <a:spcPts val="0"/>
              </a:spcBef>
              <a:spcAft>
                <a:spcPts val="0"/>
              </a:spcAft>
              <a:buClr>
                <a:srgbClr val="E8710A"/>
              </a:buClr>
              <a:buFont typeface="Arial"/>
              <a:buChar char="•"/>
            </a:pPr>
            <a:r>
              <a:rPr lang="en-US" sz="1400" b="0" i="0" dirty="0">
                <a:latin typeface="Times New Roman"/>
                <a:cs typeface="Times New Roman"/>
              </a:rPr>
              <a:t>No payment gateway; checkout only generates and stores a bill</a:t>
            </a:r>
          </a:p>
        </p:txBody>
      </p:sp>
      <p:pic>
        <p:nvPicPr>
          <p:cNvPr id="12" name="Picture 11" descr="flag_emoj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59" y="1032256"/>
            <a:ext cx="420624" cy="42062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13232" y="2697480"/>
            <a:ext cx="2606040" cy="621792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697480"/>
            <a:ext cx="2606040" cy="6217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E8710A"/>
                </a:solidFill>
                <a:latin typeface="Times New Roman"/>
                <a:cs typeface="Times New Roman"/>
              </a:rPr>
              <a:t>20 / 20  </a:t>
            </a:r>
            <a:r>
              <a:rPr lang="en-US" sz="1300" b="0" i="0" dirty="0">
                <a:solidFill>
                  <a:srgbClr val="14532D"/>
                </a:solidFill>
                <a:latin typeface="Times New Roman"/>
                <a:cs typeface="Times New Roman"/>
              </a:rPr>
              <a:t>test cases passed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56432" y="2697480"/>
            <a:ext cx="2606040" cy="621792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432" y="2697480"/>
            <a:ext cx="2606040" cy="6217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E8710A"/>
                </a:solidFill>
                <a:latin typeface="Times New Roman"/>
                <a:cs typeface="Times New Roman"/>
              </a:rPr>
              <a:t>6 / 6  </a:t>
            </a:r>
            <a:r>
              <a:rPr lang="en-US" sz="1300" b="0" i="0" dirty="0">
                <a:solidFill>
                  <a:srgbClr val="14532D"/>
                </a:solidFill>
                <a:latin typeface="Times New Roman"/>
                <a:cs typeface="Times New Roman"/>
              </a:rPr>
              <a:t>error scenarios handled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2697480"/>
            <a:ext cx="2606040" cy="621792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9632" y="2697480"/>
            <a:ext cx="2606040" cy="6217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E8710A"/>
                </a:solidFill>
                <a:latin typeface="Times New Roman"/>
                <a:cs typeface="Times New Roman"/>
              </a:rPr>
              <a:t>≈ 95 ms  </a:t>
            </a:r>
            <a:r>
              <a:rPr lang="en-US" sz="1300" b="0" i="0" dirty="0">
                <a:solidFill>
                  <a:srgbClr val="14532D"/>
                </a:solidFill>
                <a:latin typeface="Times New Roman"/>
                <a:cs typeface="Times New Roman"/>
              </a:rPr>
              <a:t>average response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42832" y="2697480"/>
            <a:ext cx="2606040" cy="621792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42832" y="2697480"/>
            <a:ext cx="2606040" cy="6217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E8710A"/>
                </a:solidFill>
                <a:latin typeface="Times New Roman"/>
                <a:cs typeface="Times New Roman"/>
              </a:rPr>
              <a:t>100%  </a:t>
            </a:r>
            <a:r>
              <a:rPr lang="en-US" sz="1300" b="0" i="0" dirty="0">
                <a:solidFill>
                  <a:srgbClr val="14532D"/>
                </a:solidFill>
                <a:latin typeface="Times New Roman"/>
                <a:cs typeface="Times New Roman"/>
              </a:rPr>
              <a:t>final pass rate</a:t>
            </a:r>
          </a:p>
        </p:txBody>
      </p:sp>
      <p:pic>
        <p:nvPicPr>
          <p:cNvPr id="21" name="Picture 20" descr="warn_emoj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759" y="3648456"/>
            <a:ext cx="420624" cy="420624"/>
          </a:xfrm>
          <a:prstGeom prst="rect">
            <a:avLst/>
          </a:prstGeom>
        </p:spPr>
      </p:pic>
      <p:pic>
        <p:nvPicPr>
          <p:cNvPr id="22" name="Picture 21" descr="rocket_emoj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3798" y="3648456"/>
            <a:ext cx="420624" cy="420624"/>
          </a:xfrm>
          <a:prstGeom prst="rect">
            <a:avLst/>
          </a:prstGeom>
        </p:spPr>
      </p:pic>
      <p:pic>
        <p:nvPicPr>
          <p:cNvPr id="23" name="Picture 22" descr="tag_emoj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4197096"/>
            <a:ext cx="274320" cy="2743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766560" y="4160520"/>
            <a:ext cx="48006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11111"/>
                </a:solidFill>
                <a:latin typeface="Times New Roman"/>
                <a:cs typeface="Times New Roman"/>
              </a:rPr>
              <a:t>Barcode / RFID scanning to add items automatically</a:t>
            </a:r>
          </a:p>
        </p:txBody>
      </p:sp>
      <p:pic>
        <p:nvPicPr>
          <p:cNvPr id="25" name="Picture 24" descr="mobile_emoj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512" y="4562856"/>
            <a:ext cx="274320" cy="2743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766560" y="4526280"/>
            <a:ext cx="48006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11111"/>
                </a:solidFill>
                <a:latin typeface="Times New Roman"/>
                <a:cs typeface="Times New Roman"/>
              </a:rPr>
              <a:t>Mobile app to build the cart before arriving</a:t>
            </a:r>
          </a:p>
        </p:txBody>
      </p:sp>
      <p:pic>
        <p:nvPicPr>
          <p:cNvPr id="27" name="Picture 26" descr="card_emoj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2512" y="4928616"/>
            <a:ext cx="274320" cy="2743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766560" y="4892040"/>
            <a:ext cx="48006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11111"/>
                </a:solidFill>
                <a:latin typeface="Times New Roman"/>
                <a:cs typeface="Times New Roman"/>
              </a:rPr>
              <a:t>Real payment gateway for end-to-end checkout</a:t>
            </a:r>
          </a:p>
        </p:txBody>
      </p:sp>
      <p:pic>
        <p:nvPicPr>
          <p:cNvPr id="29" name="Picture 28" descr="sync_emoji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2512" y="5294376"/>
            <a:ext cx="274320" cy="2743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66560" y="5257800"/>
            <a:ext cx="48006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11111"/>
                </a:solidFill>
                <a:latin typeface="Times New Roman"/>
                <a:cs typeface="Times New Roman"/>
              </a:rPr>
              <a:t>Real-time inventory sync across store terminals</a:t>
            </a:r>
          </a:p>
        </p:txBody>
      </p:sp>
      <p:pic>
        <p:nvPicPr>
          <p:cNvPr id="31" name="Picture 30" descr="users_emoji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2512" y="5660136"/>
            <a:ext cx="274320" cy="2743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766560" y="5623560"/>
            <a:ext cx="48006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11111"/>
                </a:solidFill>
                <a:latin typeface="Times New Roman"/>
                <a:cs typeface="Times New Roman"/>
              </a:rPr>
              <a:t>Multi-user support with load testing</a:t>
            </a:r>
          </a:p>
        </p:txBody>
      </p:sp>
      <p:pic>
        <p:nvPicPr>
          <p:cNvPr id="33" name="Picture 32" descr="lock_emoji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82512" y="6025896"/>
            <a:ext cx="274320" cy="27432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766560" y="5989320"/>
            <a:ext cx="48006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11111"/>
                </a:solidFill>
                <a:latin typeface="Times New Roman"/>
                <a:cs typeface="Times New Roman"/>
              </a:rPr>
              <a:t>Config file and connection pooling</a:t>
            </a:r>
          </a:p>
        </p:txBody>
      </p:sp>
      <p:pic>
        <p:nvPicPr>
          <p:cNvPr id="35" name="Picture 34" descr="cart_emoji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920" y="292608"/>
            <a:ext cx="493776" cy="493776"/>
          </a:xfrm>
          <a:prstGeom prst="rect">
            <a:avLst/>
          </a:prstGeom>
        </p:spPr>
      </p:pic>
      <p:pic>
        <p:nvPicPr>
          <p:cNvPr id="36" name="Picture 35" descr="apple_emoji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1560" y="292608"/>
            <a:ext cx="493776" cy="493776"/>
          </a:xfrm>
          <a:prstGeom prst="rect">
            <a:avLst/>
          </a:prstGeom>
        </p:spPr>
      </p:pic>
      <p:pic>
        <p:nvPicPr>
          <p:cNvPr id="37" name="Picture 36" descr="carrot_emoji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00200" y="292608"/>
            <a:ext cx="493776" cy="49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770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B6885-6B9A-270E-D011-C6195CEF0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B7B8957-8828-E623-0D1B-083069FEC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8</a:t>
            </a:fld>
            <a:endParaRPr lang="en-IN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3648C33D-8B31-6B82-2E8D-DC4C841DE344}"/>
              </a:ext>
            </a:extLst>
          </p:cNvPr>
          <p:cNvSpPr txBox="1">
            <a:spLocks/>
          </p:cNvSpPr>
          <p:nvPr/>
        </p:nvSpPr>
        <p:spPr>
          <a:xfrm>
            <a:off x="3814663" y="5210996"/>
            <a:ext cx="4562669" cy="87929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575"/>
              </a:spcBef>
              <a:buClr>
                <a:srgbClr val="D34817"/>
              </a:buClr>
              <a:buSzPct val="85000"/>
              <a:buNone/>
              <a:defRPr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Dhivyadharshini N, Nesappriya R</a:t>
            </a:r>
          </a:p>
          <a:p>
            <a:pPr marL="0" indent="0" algn="ctr">
              <a:spcBef>
                <a:spcPts val="575"/>
              </a:spcBef>
              <a:buClr>
                <a:srgbClr val="D34817"/>
              </a:buClr>
              <a:buSzPct val="85000"/>
              <a:buNone/>
              <a:defRPr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Computer Science and Engineering</a:t>
            </a:r>
          </a:p>
          <a:p>
            <a:pPr marL="0" indent="0" algn="ctr">
              <a:spcBef>
                <a:spcPts val="575"/>
              </a:spcBef>
              <a:buClr>
                <a:srgbClr val="D34817"/>
              </a:buClr>
              <a:buSzPct val="85000"/>
              <a:buNone/>
              <a:defRPr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2A3C68FE-708A-E575-2346-D66B76F28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06/10/2026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233C03-9E8E-963B-6AEE-A6F08D165C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07" b="13744"/>
          <a:stretch>
            <a:fillRect/>
          </a:stretch>
        </p:blipFill>
        <p:spPr>
          <a:xfrm>
            <a:off x="2746625" y="136525"/>
            <a:ext cx="6698746" cy="13330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DAC499-8CE4-9EB6-4C6F-AF24243B97F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4988" y="1646945"/>
            <a:ext cx="4782020" cy="3386700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id="{85787E0A-82D9-5CAB-8C09-1F3F24B08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918ED0-F7FD-61C4-5F6D-45B18985D959}"/>
              </a:ext>
            </a:extLst>
          </p:cNvPr>
          <p:cNvSpPr txBox="1"/>
          <p:nvPr/>
        </p:nvSpPr>
        <p:spPr>
          <a:xfrm>
            <a:off x="5105400" y="7513282"/>
            <a:ext cx="224188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</a:t>
            </a:r>
            <a:endParaRPr lang="en-IN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2006C30-F416-F103-AA83-A6555D710B62}"/>
              </a:ext>
            </a:extLst>
          </p:cNvPr>
          <p:cNvGrpSpPr/>
          <p:nvPr/>
        </p:nvGrpSpPr>
        <p:grpSpPr>
          <a:xfrm>
            <a:off x="702620" y="3285299"/>
            <a:ext cx="3014358" cy="1775255"/>
            <a:chOff x="702620" y="3285299"/>
            <a:chExt cx="3014358" cy="1775255"/>
          </a:xfrm>
        </p:grpSpPr>
        <p:pic>
          <p:nvPicPr>
            <p:cNvPr id="4" name="Picture 3" descr="Video - Free technology icons">
              <a:extLst>
                <a:ext uri="{FF2B5EF4-FFF2-40B4-BE49-F238E27FC236}">
                  <a16:creationId xmlns:a16="http://schemas.microsoft.com/office/drawing/2014/main" id="{20AF4B87-C09B-B0BF-63C8-DF3D52FD4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05024" y="3285299"/>
              <a:ext cx="997561" cy="997561"/>
            </a:xfrm>
            <a:prstGeom prst="rect">
              <a:avLst/>
            </a:prstGeom>
          </p:spPr>
        </p:pic>
        <p:sp>
          <p:nvSpPr>
            <p:cNvPr id="13" name="Content Placeholder 2">
              <a:extLst>
                <a:ext uri="{FF2B5EF4-FFF2-40B4-BE49-F238E27FC236}">
                  <a16:creationId xmlns:a16="http://schemas.microsoft.com/office/drawing/2014/main" id="{B7369601-F94C-8283-5031-C1F98541F694}"/>
                </a:ext>
              </a:extLst>
            </p:cNvPr>
            <p:cNvSpPr txBox="1">
              <a:spLocks/>
            </p:cNvSpPr>
            <p:nvPr/>
          </p:nvSpPr>
          <p:spPr>
            <a:xfrm>
              <a:off x="702620" y="4181255"/>
              <a:ext cx="3014358" cy="8792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Project Video Link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just">
                <a:buNone/>
              </a:pPr>
              <a:r>
                <a:rPr 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[Add link here]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EB63A19-86CA-308B-4F8B-37E96DFBBAB8}"/>
              </a:ext>
            </a:extLst>
          </p:cNvPr>
          <p:cNvGrpSpPr/>
          <p:nvPr/>
        </p:nvGrpSpPr>
        <p:grpSpPr>
          <a:xfrm>
            <a:off x="8475018" y="3344430"/>
            <a:ext cx="3014358" cy="1716124"/>
            <a:chOff x="8475018" y="3344430"/>
            <a:chExt cx="3014358" cy="171612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A4E5C56-C77A-1635-7CC4-71BC5FB9B0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6553" y="3344430"/>
              <a:ext cx="879298" cy="879298"/>
            </a:xfrm>
            <a:prstGeom prst="rect">
              <a:avLst/>
            </a:prstGeom>
          </p:spPr>
        </p:pic>
        <p:sp>
          <p:nvSpPr>
            <p:cNvPr id="24" name="Content Placeholder 2">
              <a:extLst>
                <a:ext uri="{FF2B5EF4-FFF2-40B4-BE49-F238E27FC236}">
                  <a16:creationId xmlns:a16="http://schemas.microsoft.com/office/drawing/2014/main" id="{19622691-213E-2374-E58E-253554DF0409}"/>
                </a:ext>
              </a:extLst>
            </p:cNvPr>
            <p:cNvSpPr txBox="1">
              <a:spLocks/>
            </p:cNvSpPr>
            <p:nvPr/>
          </p:nvSpPr>
          <p:spPr>
            <a:xfrm>
              <a:off x="8475018" y="4181255"/>
              <a:ext cx="3014358" cy="8792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GitHub Repository Link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1200" i="0" dirty="0" b="1" u="sng">
                  <a:solidFill>
                    <a:srgbClr val="1453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hlinkClick r:id="rId6"/>
                </a:rPr>
                <a:t>github.com/dhivyadharshinincse2025-cpu/smart-cart-java</a:t>
              </a:r>
            </a:p>
          </p:txBody>
        </p:sp>
      </p:grpSp>
      <p:pic>
        <p:nvPicPr>
          <p:cNvPr id="26" name="Picture 25" descr="apple_emoj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1600200"/>
            <a:ext cx="749808" cy="749808"/>
          </a:xfrm>
          <a:prstGeom prst="rect">
            <a:avLst/>
          </a:prstGeom>
        </p:spPr>
      </p:pic>
      <p:pic>
        <p:nvPicPr>
          <p:cNvPr id="27" name="Picture 26" descr="lemon_emoj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52560" y="1600200"/>
            <a:ext cx="749808" cy="749808"/>
          </a:xfrm>
          <a:prstGeom prst="rect">
            <a:avLst/>
          </a:prstGeom>
        </p:spPr>
      </p:pic>
      <p:pic>
        <p:nvPicPr>
          <p:cNvPr id="28" name="Picture 27" descr="bread_emoji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00200" y="1600200"/>
            <a:ext cx="749808" cy="749808"/>
          </a:xfrm>
          <a:prstGeom prst="rect">
            <a:avLst/>
          </a:prstGeom>
        </p:spPr>
      </p:pic>
      <p:pic>
        <p:nvPicPr>
          <p:cNvPr id="29" name="Picture 28" descr="egg_emoji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21240" y="1600200"/>
            <a:ext cx="749808" cy="749808"/>
          </a:xfrm>
          <a:prstGeom prst="rect">
            <a:avLst/>
          </a:prstGeom>
        </p:spPr>
      </p:pic>
      <p:pic>
        <p:nvPicPr>
          <p:cNvPr id="30" name="Picture 29" descr="carrot_emoji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68880" y="1600200"/>
            <a:ext cx="749808" cy="749808"/>
          </a:xfrm>
          <a:prstGeom prst="rect">
            <a:avLst/>
          </a:prstGeom>
        </p:spPr>
      </p:pic>
      <p:pic>
        <p:nvPicPr>
          <p:cNvPr id="31" name="Picture 30" descr="pepper_emoji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89920" y="1600200"/>
            <a:ext cx="749808" cy="749808"/>
          </a:xfrm>
          <a:prstGeom prst="rect">
            <a:avLst/>
          </a:prstGeom>
        </p:spPr>
      </p:pic>
      <p:pic>
        <p:nvPicPr>
          <p:cNvPr id="32" name="Picture 31" descr="cheese_emoji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1520" y="2468880"/>
            <a:ext cx="749808" cy="749808"/>
          </a:xfrm>
          <a:prstGeom prst="rect">
            <a:avLst/>
          </a:prstGeom>
        </p:spPr>
      </p:pic>
      <p:pic>
        <p:nvPicPr>
          <p:cNvPr id="33" name="Picture 32" descr="bag_emoji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52560" y="2468880"/>
            <a:ext cx="749808" cy="749808"/>
          </a:xfrm>
          <a:prstGeom prst="rect">
            <a:avLst/>
          </a:prstGeom>
        </p:spPr>
      </p:pic>
      <p:pic>
        <p:nvPicPr>
          <p:cNvPr id="34" name="Picture 33" descr="cart_emoji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00200" y="2468880"/>
            <a:ext cx="749808" cy="749808"/>
          </a:xfrm>
          <a:prstGeom prst="rect">
            <a:avLst/>
          </a:prstGeom>
        </p:spPr>
      </p:pic>
      <p:pic>
        <p:nvPicPr>
          <p:cNvPr id="35" name="Picture 34" descr="percent_emoji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921240" y="2468880"/>
            <a:ext cx="749808" cy="749808"/>
          </a:xfrm>
          <a:prstGeom prst="rect">
            <a:avLst/>
          </a:prstGeom>
        </p:spPr>
      </p:pic>
      <p:pic>
        <p:nvPicPr>
          <p:cNvPr id="36" name="Picture 35" descr="fish_emoji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68880" y="2468880"/>
            <a:ext cx="749808" cy="749808"/>
          </a:xfrm>
          <a:prstGeom prst="rect">
            <a:avLst/>
          </a:prstGeom>
        </p:spPr>
      </p:pic>
      <p:pic>
        <p:nvPicPr>
          <p:cNvPr id="37" name="Picture 36" descr="boxes_emoji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789920" y="2468880"/>
            <a:ext cx="749808" cy="749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180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1143</TotalTime>
  <Words>577</Words>
  <Application>Microsoft Office PowerPoint</Application>
  <PresentationFormat>Widescreen</PresentationFormat>
  <Paragraphs>104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CS3503 – Machine Learning PBL Project Review</vt:lpstr>
      <vt:lpstr>Problem &amp; Objectives</vt:lpstr>
      <vt:lpstr>Input, Analysis &amp; Insights</vt:lpstr>
      <vt:lpstr> Technical Approach</vt:lpstr>
      <vt:lpstr> Feasibility, Risk and Challenges</vt:lpstr>
      <vt:lpstr> Result and Applications </vt:lpstr>
      <vt:lpstr>Conclusion, Limitations &amp;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ayeesha nasreen</dc:creator>
  <cp:lastModifiedBy>Pratham Verma</cp:lastModifiedBy>
  <cp:revision>16</cp:revision>
  <dcterms:created xsi:type="dcterms:W3CDTF">2025-03-10T15:11:33Z</dcterms:created>
  <dcterms:modified xsi:type="dcterms:W3CDTF">2026-09-24T06:06:07Z</dcterms:modified>
</cp:coreProperties>
</file>